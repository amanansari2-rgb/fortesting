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0" r:id="rId3"/>
    <p:sldId id="281" r:id="rId4"/>
    <p:sldId id="282" r:id="rId5"/>
    <p:sldId id="283" r:id="rId6"/>
    <p:sldId id="284" r:id="rId7"/>
    <p:sldId id="285" r:id="rId8"/>
    <p:sldId id="257" r:id="rId9"/>
    <p:sldId id="263" r:id="rId10"/>
    <p:sldId id="264" r:id="rId11"/>
    <p:sldId id="279" r:id="rId12"/>
    <p:sldId id="278" r:id="rId13"/>
    <p:sldId id="275" r:id="rId14"/>
    <p:sldId id="266" r:id="rId15"/>
    <p:sldId id="265" r:id="rId16"/>
    <p:sldId id="276" r:id="rId17"/>
    <p:sldId id="277" r:id="rId18"/>
    <p:sldId id="267" r:id="rId19"/>
    <p:sldId id="268" r:id="rId20"/>
    <p:sldId id="269" r:id="rId21"/>
    <p:sldId id="272" r:id="rId22"/>
    <p:sldId id="273" r:id="rId23"/>
    <p:sldId id="274" r:id="rId24"/>
    <p:sldId id="270" r:id="rId25"/>
    <p:sldId id="27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F3BE00-664D-8650-0A5E-139A9AAE5161}" v="4" dt="2026-06-02T03:28:40.5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w, Saurav Kumar (Contractor)" userId="S::2487580@cognizant.com::f47719ba-2f4a-42d1-9417-00f2a6877309" providerId="AD" clId="Web-{37E6D296-56E1-7246-1736-6FA365AF3F78}"/>
    <pc:docChg chg="modSld">
      <pc:chgData name="Shaw, Saurav Kumar (Contractor)" userId="S::2487580@cognizant.com::f47719ba-2f4a-42d1-9417-00f2a6877309" providerId="AD" clId="Web-{37E6D296-56E1-7246-1736-6FA365AF3F78}" dt="2026-05-27T03:56:39.020" v="3" actId="20577"/>
      <pc:docMkLst>
        <pc:docMk/>
      </pc:docMkLst>
      <pc:sldChg chg="modSp">
        <pc:chgData name="Shaw, Saurav Kumar (Contractor)" userId="S::2487580@cognizant.com::f47719ba-2f4a-42d1-9417-00f2a6877309" providerId="AD" clId="Web-{37E6D296-56E1-7246-1736-6FA365AF3F78}" dt="2026-05-27T03:56:39.020" v="3" actId="20577"/>
        <pc:sldMkLst>
          <pc:docMk/>
          <pc:sldMk cId="304147440" sldId="283"/>
        </pc:sldMkLst>
        <pc:spChg chg="mod">
          <ac:chgData name="Shaw, Saurav Kumar (Contractor)" userId="S::2487580@cognizant.com::f47719ba-2f4a-42d1-9417-00f2a6877309" providerId="AD" clId="Web-{37E6D296-56E1-7246-1736-6FA365AF3F78}" dt="2026-05-27T03:56:39.020" v="3" actId="20577"/>
          <ac:spMkLst>
            <pc:docMk/>
            <pc:sldMk cId="304147440" sldId="283"/>
            <ac:spMk id="3" creationId="{732DB191-42DD-3833-FBF9-A01DB18166FB}"/>
          </ac:spMkLst>
        </pc:spChg>
      </pc:sldChg>
    </pc:docChg>
  </pc:docChgLst>
  <pc:docChgLst>
    <pc:chgData name="Shaw, Saurav Kumar (Contractor)" userId="S::2487580@cognizant.com::f47719ba-2f4a-42d1-9417-00f2a6877309" providerId="AD" clId="Web-{60B7FAE5-D6D8-DDDD-6CAA-E87CCDDAB5C6}"/>
    <pc:docChg chg="modSld">
      <pc:chgData name="Shaw, Saurav Kumar (Contractor)" userId="S::2487580@cognizant.com::f47719ba-2f4a-42d1-9417-00f2a6877309" providerId="AD" clId="Web-{60B7FAE5-D6D8-DDDD-6CAA-E87CCDDAB5C6}" dt="2026-05-25T06:15:27.191" v="15" actId="20577"/>
      <pc:docMkLst>
        <pc:docMk/>
      </pc:docMkLst>
      <pc:sldChg chg="modSp">
        <pc:chgData name="Shaw, Saurav Kumar (Contractor)" userId="S::2487580@cognizant.com::f47719ba-2f4a-42d1-9417-00f2a6877309" providerId="AD" clId="Web-{60B7FAE5-D6D8-DDDD-6CAA-E87CCDDAB5C6}" dt="2026-05-25T06:15:27.191" v="15" actId="20577"/>
        <pc:sldMkLst>
          <pc:docMk/>
          <pc:sldMk cId="301146175" sldId="266"/>
        </pc:sldMkLst>
        <pc:spChg chg="mod">
          <ac:chgData name="Shaw, Saurav Kumar (Contractor)" userId="S::2487580@cognizant.com::f47719ba-2f4a-42d1-9417-00f2a6877309" providerId="AD" clId="Web-{60B7FAE5-D6D8-DDDD-6CAA-E87CCDDAB5C6}" dt="2026-05-25T06:15:27.191" v="15" actId="20577"/>
          <ac:spMkLst>
            <pc:docMk/>
            <pc:sldMk cId="301146175" sldId="266"/>
            <ac:spMk id="3" creationId="{732DB191-42DD-3833-FBF9-A01DB18166FB}"/>
          </ac:spMkLst>
        </pc:spChg>
      </pc:sldChg>
    </pc:docChg>
  </pc:docChgLst>
  <pc:docChgLst>
    <pc:chgData name="Yadav, Yogesh (Contractor)" userId="S::2487480@cognizant.com::707e92b4-bdf1-4240-99c5-55b74084c3e5" providerId="AD" clId="Web-{7FF3BE00-664D-8650-0A5E-139A9AAE5161}"/>
    <pc:docChg chg="modSld">
      <pc:chgData name="Yadav, Yogesh (Contractor)" userId="S::2487480@cognizant.com::707e92b4-bdf1-4240-99c5-55b74084c3e5" providerId="AD" clId="Web-{7FF3BE00-664D-8650-0A5E-139A9AAE5161}" dt="2026-06-02T03:28:40.518" v="3" actId="1076"/>
      <pc:docMkLst>
        <pc:docMk/>
      </pc:docMkLst>
      <pc:sldChg chg="modSp">
        <pc:chgData name="Yadav, Yogesh (Contractor)" userId="S::2487480@cognizant.com::707e92b4-bdf1-4240-99c5-55b74084c3e5" providerId="AD" clId="Web-{7FF3BE00-664D-8650-0A5E-139A9AAE5161}" dt="2026-06-02T03:19:57.442" v="1" actId="20577"/>
        <pc:sldMkLst>
          <pc:docMk/>
          <pc:sldMk cId="681157499" sldId="280"/>
        </pc:sldMkLst>
        <pc:spChg chg="mod">
          <ac:chgData name="Yadav, Yogesh (Contractor)" userId="S::2487480@cognizant.com::707e92b4-bdf1-4240-99c5-55b74084c3e5" providerId="AD" clId="Web-{7FF3BE00-664D-8650-0A5E-139A9AAE5161}" dt="2026-06-02T03:19:57.442" v="1" actId="20577"/>
          <ac:spMkLst>
            <pc:docMk/>
            <pc:sldMk cId="681157499" sldId="280"/>
            <ac:spMk id="3" creationId="{732DB191-42DD-3833-FBF9-A01DB18166FB}"/>
          </ac:spMkLst>
        </pc:spChg>
      </pc:sldChg>
      <pc:sldChg chg="modSp">
        <pc:chgData name="Yadav, Yogesh (Contractor)" userId="S::2487480@cognizant.com::707e92b4-bdf1-4240-99c5-55b74084c3e5" providerId="AD" clId="Web-{7FF3BE00-664D-8650-0A5E-139A9AAE5161}" dt="2026-06-02T03:28:40.518" v="3" actId="1076"/>
        <pc:sldMkLst>
          <pc:docMk/>
          <pc:sldMk cId="304147440" sldId="283"/>
        </pc:sldMkLst>
        <pc:spChg chg="mod">
          <ac:chgData name="Yadav, Yogesh (Contractor)" userId="S::2487480@cognizant.com::707e92b4-bdf1-4240-99c5-55b74084c3e5" providerId="AD" clId="Web-{7FF3BE00-664D-8650-0A5E-139A9AAE5161}" dt="2026-06-02T03:28:30.111" v="2" actId="1076"/>
          <ac:spMkLst>
            <pc:docMk/>
            <pc:sldMk cId="304147440" sldId="283"/>
            <ac:spMk id="2" creationId="{C5E08877-3E60-77DF-4976-9EF9CBD893E9}"/>
          </ac:spMkLst>
        </pc:spChg>
        <pc:spChg chg="mod">
          <ac:chgData name="Yadav, Yogesh (Contractor)" userId="S::2487480@cognizant.com::707e92b4-bdf1-4240-99c5-55b74084c3e5" providerId="AD" clId="Web-{7FF3BE00-664D-8650-0A5E-139A9AAE5161}" dt="2026-06-02T03:28:40.518" v="3" actId="1076"/>
          <ac:spMkLst>
            <pc:docMk/>
            <pc:sldMk cId="304147440" sldId="283"/>
            <ac:spMk id="3" creationId="{732DB191-42DD-3833-FBF9-A01DB18166FB}"/>
          </ac:spMkLst>
        </pc:spChg>
      </pc:sldChg>
    </pc:docChg>
  </pc:docChgLst>
  <pc:docChgLst>
    <pc:chgData name="Shaw, Saurav Kumar (Contractor)" userId="f47719ba-2f4a-42d1-9417-00f2a6877309" providerId="ADAL" clId="{7AF428F5-5799-4D68-90C2-338D6FCE8F40}"/>
    <pc:docChg chg="modSld">
      <pc:chgData name="Shaw, Saurav Kumar (Contractor)" userId="f47719ba-2f4a-42d1-9417-00f2a6877309" providerId="ADAL" clId="{7AF428F5-5799-4D68-90C2-338D6FCE8F40}" dt="2026-05-28T03:55:35.949" v="1" actId="1076"/>
      <pc:docMkLst>
        <pc:docMk/>
      </pc:docMkLst>
      <pc:sldChg chg="modSp mod">
        <pc:chgData name="Shaw, Saurav Kumar (Contractor)" userId="f47719ba-2f4a-42d1-9417-00f2a6877309" providerId="ADAL" clId="{7AF428F5-5799-4D68-90C2-338D6FCE8F40}" dt="2026-05-27T12:02:15.738" v="0" actId="1076"/>
        <pc:sldMkLst>
          <pc:docMk/>
          <pc:sldMk cId="1533534139" sldId="268"/>
        </pc:sldMkLst>
        <pc:spChg chg="mod">
          <ac:chgData name="Shaw, Saurav Kumar (Contractor)" userId="f47719ba-2f4a-42d1-9417-00f2a6877309" providerId="ADAL" clId="{7AF428F5-5799-4D68-90C2-338D6FCE8F40}" dt="2026-05-27T12:02:15.738" v="0" actId="1076"/>
          <ac:spMkLst>
            <pc:docMk/>
            <pc:sldMk cId="1533534139" sldId="268"/>
            <ac:spMk id="3" creationId="{732DB191-42DD-3833-FBF9-A01DB18166FB}"/>
          </ac:spMkLst>
        </pc:spChg>
      </pc:sldChg>
      <pc:sldChg chg="modSp mod">
        <pc:chgData name="Shaw, Saurav Kumar (Contractor)" userId="f47719ba-2f4a-42d1-9417-00f2a6877309" providerId="ADAL" clId="{7AF428F5-5799-4D68-90C2-338D6FCE8F40}" dt="2026-05-28T03:55:35.949" v="1" actId="1076"/>
        <pc:sldMkLst>
          <pc:docMk/>
          <pc:sldMk cId="2833484345" sldId="278"/>
        </pc:sldMkLst>
        <pc:spChg chg="mod">
          <ac:chgData name="Shaw, Saurav Kumar (Contractor)" userId="f47719ba-2f4a-42d1-9417-00f2a6877309" providerId="ADAL" clId="{7AF428F5-5799-4D68-90C2-338D6FCE8F40}" dt="2026-05-28T03:55:35.949" v="1" actId="1076"/>
          <ac:spMkLst>
            <pc:docMk/>
            <pc:sldMk cId="2833484345" sldId="278"/>
            <ac:spMk id="3" creationId="{732DB191-42DD-3833-FBF9-A01DB18166F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95813-9733-8ED7-8792-43D276F7FC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CF9741-F175-CEB1-4CAF-F2F1223906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8EA6385-B0FF-1159-3488-2B20399BEA13}"/>
              </a:ext>
            </a:extLst>
          </p:cNvPr>
          <p:cNvSpPr>
            <a:spLocks noGrp="1"/>
          </p:cNvSpPr>
          <p:nvPr>
            <p:ph type="dt" sz="half" idx="10"/>
          </p:nvPr>
        </p:nvSpPr>
        <p:spPr/>
        <p:txBody>
          <a:bodyPr/>
          <a:lstStyle/>
          <a:p>
            <a:fld id="{98270B97-E0F0-43D3-A4FF-58F2CB0316C4}" type="datetimeFigureOut">
              <a:rPr lang="en-IN" smtClean="0"/>
              <a:t>01-06-2026</a:t>
            </a:fld>
            <a:endParaRPr lang="en-IN"/>
          </a:p>
        </p:txBody>
      </p:sp>
      <p:sp>
        <p:nvSpPr>
          <p:cNvPr id="5" name="Footer Placeholder 4">
            <a:extLst>
              <a:ext uri="{FF2B5EF4-FFF2-40B4-BE49-F238E27FC236}">
                <a16:creationId xmlns:a16="http://schemas.microsoft.com/office/drawing/2014/main" id="{0CB82D65-DAD4-5F76-1642-95C4B7D3B8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7C1FA1-86C1-5848-EFED-0FC03680496A}"/>
              </a:ext>
            </a:extLst>
          </p:cNvPr>
          <p:cNvSpPr>
            <a:spLocks noGrp="1"/>
          </p:cNvSpPr>
          <p:nvPr>
            <p:ph type="sldNum" sz="quarter" idx="12"/>
          </p:nvPr>
        </p:nvSpPr>
        <p:spPr/>
        <p:txBody>
          <a:bodyPr/>
          <a:lstStyle/>
          <a:p>
            <a:fld id="{58347806-60BA-4F20-BFCD-CB4EE889CE88}" type="slidenum">
              <a:rPr lang="en-IN" smtClean="0"/>
              <a:t>‹#›</a:t>
            </a:fld>
            <a:endParaRPr lang="en-IN"/>
          </a:p>
        </p:txBody>
      </p:sp>
    </p:spTree>
    <p:extLst>
      <p:ext uri="{BB962C8B-B14F-4D97-AF65-F5344CB8AC3E}">
        <p14:creationId xmlns:p14="http://schemas.microsoft.com/office/powerpoint/2010/main" val="1891872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D81D7-1A0F-D5FF-8325-12E134670A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B10F2-38DA-3F57-0119-60E832F1D0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452B07-3D30-A996-FA69-CB224C5EB16A}"/>
              </a:ext>
            </a:extLst>
          </p:cNvPr>
          <p:cNvSpPr>
            <a:spLocks noGrp="1"/>
          </p:cNvSpPr>
          <p:nvPr>
            <p:ph type="dt" sz="half" idx="10"/>
          </p:nvPr>
        </p:nvSpPr>
        <p:spPr/>
        <p:txBody>
          <a:bodyPr/>
          <a:lstStyle/>
          <a:p>
            <a:fld id="{98270B97-E0F0-43D3-A4FF-58F2CB0316C4}" type="datetimeFigureOut">
              <a:rPr lang="en-IN" smtClean="0"/>
              <a:t>01-06-2026</a:t>
            </a:fld>
            <a:endParaRPr lang="en-IN"/>
          </a:p>
        </p:txBody>
      </p:sp>
      <p:sp>
        <p:nvSpPr>
          <p:cNvPr id="5" name="Footer Placeholder 4">
            <a:extLst>
              <a:ext uri="{FF2B5EF4-FFF2-40B4-BE49-F238E27FC236}">
                <a16:creationId xmlns:a16="http://schemas.microsoft.com/office/drawing/2014/main" id="{630CF927-909B-679D-8AB9-AF0985B12A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EABC8E-D426-893B-EC59-1DFB7D5BC54A}"/>
              </a:ext>
            </a:extLst>
          </p:cNvPr>
          <p:cNvSpPr>
            <a:spLocks noGrp="1"/>
          </p:cNvSpPr>
          <p:nvPr>
            <p:ph type="sldNum" sz="quarter" idx="12"/>
          </p:nvPr>
        </p:nvSpPr>
        <p:spPr/>
        <p:txBody>
          <a:bodyPr/>
          <a:lstStyle/>
          <a:p>
            <a:fld id="{58347806-60BA-4F20-BFCD-CB4EE889CE88}" type="slidenum">
              <a:rPr lang="en-IN" smtClean="0"/>
              <a:t>‹#›</a:t>
            </a:fld>
            <a:endParaRPr lang="en-IN"/>
          </a:p>
        </p:txBody>
      </p:sp>
    </p:spTree>
    <p:extLst>
      <p:ext uri="{BB962C8B-B14F-4D97-AF65-F5344CB8AC3E}">
        <p14:creationId xmlns:p14="http://schemas.microsoft.com/office/powerpoint/2010/main" val="2612284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68E00-2C9A-6A9C-1F91-27E48D16EB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788676E-3144-4C2B-5639-78BD9B942F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11CA70-F1F8-C5FA-5057-7666F5EFF0F6}"/>
              </a:ext>
            </a:extLst>
          </p:cNvPr>
          <p:cNvSpPr>
            <a:spLocks noGrp="1"/>
          </p:cNvSpPr>
          <p:nvPr>
            <p:ph type="dt" sz="half" idx="10"/>
          </p:nvPr>
        </p:nvSpPr>
        <p:spPr/>
        <p:txBody>
          <a:bodyPr/>
          <a:lstStyle/>
          <a:p>
            <a:fld id="{98270B97-E0F0-43D3-A4FF-58F2CB0316C4}" type="datetimeFigureOut">
              <a:rPr lang="en-IN" smtClean="0"/>
              <a:t>01-06-2026</a:t>
            </a:fld>
            <a:endParaRPr lang="en-IN"/>
          </a:p>
        </p:txBody>
      </p:sp>
      <p:sp>
        <p:nvSpPr>
          <p:cNvPr id="5" name="Footer Placeholder 4">
            <a:extLst>
              <a:ext uri="{FF2B5EF4-FFF2-40B4-BE49-F238E27FC236}">
                <a16:creationId xmlns:a16="http://schemas.microsoft.com/office/drawing/2014/main" id="{14A2FDDD-0E96-0873-17EE-39F981FAAA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8128DC-B10C-40D9-EEA0-1C7A4B99FCA8}"/>
              </a:ext>
            </a:extLst>
          </p:cNvPr>
          <p:cNvSpPr>
            <a:spLocks noGrp="1"/>
          </p:cNvSpPr>
          <p:nvPr>
            <p:ph type="sldNum" sz="quarter" idx="12"/>
          </p:nvPr>
        </p:nvSpPr>
        <p:spPr/>
        <p:txBody>
          <a:bodyPr/>
          <a:lstStyle/>
          <a:p>
            <a:fld id="{58347806-60BA-4F20-BFCD-CB4EE889CE88}" type="slidenum">
              <a:rPr lang="en-IN" smtClean="0"/>
              <a:t>‹#›</a:t>
            </a:fld>
            <a:endParaRPr lang="en-IN"/>
          </a:p>
        </p:txBody>
      </p:sp>
    </p:spTree>
    <p:extLst>
      <p:ext uri="{BB962C8B-B14F-4D97-AF65-F5344CB8AC3E}">
        <p14:creationId xmlns:p14="http://schemas.microsoft.com/office/powerpoint/2010/main" val="947082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28239-8B4E-774B-54FD-A794C5CDE3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73B626-362A-CC83-EA25-2547DE8FA9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C96855-1672-0859-A1DC-EC78CC778D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0C6FDB-C28A-E098-1026-FFAC724C85E6}"/>
              </a:ext>
            </a:extLst>
          </p:cNvPr>
          <p:cNvSpPr>
            <a:spLocks noGrp="1"/>
          </p:cNvSpPr>
          <p:nvPr>
            <p:ph type="dt" sz="half" idx="10"/>
          </p:nvPr>
        </p:nvSpPr>
        <p:spPr/>
        <p:txBody>
          <a:bodyPr/>
          <a:lstStyle/>
          <a:p>
            <a:fld id="{98270B97-E0F0-43D3-A4FF-58F2CB0316C4}" type="datetimeFigureOut">
              <a:rPr lang="en-IN" smtClean="0"/>
              <a:t>01-06-2026</a:t>
            </a:fld>
            <a:endParaRPr lang="en-IN"/>
          </a:p>
        </p:txBody>
      </p:sp>
      <p:sp>
        <p:nvSpPr>
          <p:cNvPr id="6" name="Footer Placeholder 5">
            <a:extLst>
              <a:ext uri="{FF2B5EF4-FFF2-40B4-BE49-F238E27FC236}">
                <a16:creationId xmlns:a16="http://schemas.microsoft.com/office/drawing/2014/main" id="{E5DB099B-F649-B279-5428-C447CB651F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7C12F3-C9EC-595D-1502-B8F6CFCC87D0}"/>
              </a:ext>
            </a:extLst>
          </p:cNvPr>
          <p:cNvSpPr>
            <a:spLocks noGrp="1"/>
          </p:cNvSpPr>
          <p:nvPr>
            <p:ph type="sldNum" sz="quarter" idx="12"/>
          </p:nvPr>
        </p:nvSpPr>
        <p:spPr/>
        <p:txBody>
          <a:bodyPr/>
          <a:lstStyle/>
          <a:p>
            <a:fld id="{58347806-60BA-4F20-BFCD-CB4EE889CE88}" type="slidenum">
              <a:rPr lang="en-IN" smtClean="0"/>
              <a:t>‹#›</a:t>
            </a:fld>
            <a:endParaRPr lang="en-IN"/>
          </a:p>
        </p:txBody>
      </p:sp>
    </p:spTree>
    <p:extLst>
      <p:ext uri="{BB962C8B-B14F-4D97-AF65-F5344CB8AC3E}">
        <p14:creationId xmlns:p14="http://schemas.microsoft.com/office/powerpoint/2010/main" val="600711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E6E8D-6974-6506-7668-14482F58651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9991F7-80B9-B806-1548-F3E00428B0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6A5E1B-A09D-2342-F7A0-0D4E8CDA34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EC95ECF-3FBD-89E0-7C7E-DF1D55F507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B09863-C4FB-2042-2C06-FC9461CB25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AD2CCA1-65AE-F303-778C-909BD1C4ADBF}"/>
              </a:ext>
            </a:extLst>
          </p:cNvPr>
          <p:cNvSpPr>
            <a:spLocks noGrp="1"/>
          </p:cNvSpPr>
          <p:nvPr>
            <p:ph type="dt" sz="half" idx="10"/>
          </p:nvPr>
        </p:nvSpPr>
        <p:spPr/>
        <p:txBody>
          <a:bodyPr/>
          <a:lstStyle/>
          <a:p>
            <a:fld id="{98270B97-E0F0-43D3-A4FF-58F2CB0316C4}" type="datetimeFigureOut">
              <a:rPr lang="en-IN" smtClean="0"/>
              <a:t>01-06-2026</a:t>
            </a:fld>
            <a:endParaRPr lang="en-IN"/>
          </a:p>
        </p:txBody>
      </p:sp>
      <p:sp>
        <p:nvSpPr>
          <p:cNvPr id="8" name="Footer Placeholder 7">
            <a:extLst>
              <a:ext uri="{FF2B5EF4-FFF2-40B4-BE49-F238E27FC236}">
                <a16:creationId xmlns:a16="http://schemas.microsoft.com/office/drawing/2014/main" id="{0EF4A298-74CA-33A8-6D56-6B3DEBBAA69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ECC5AC-0809-FFB8-71FD-970A95B7324C}"/>
              </a:ext>
            </a:extLst>
          </p:cNvPr>
          <p:cNvSpPr>
            <a:spLocks noGrp="1"/>
          </p:cNvSpPr>
          <p:nvPr>
            <p:ph type="sldNum" sz="quarter" idx="12"/>
          </p:nvPr>
        </p:nvSpPr>
        <p:spPr/>
        <p:txBody>
          <a:bodyPr/>
          <a:lstStyle/>
          <a:p>
            <a:fld id="{58347806-60BA-4F20-BFCD-CB4EE889CE88}" type="slidenum">
              <a:rPr lang="en-IN" smtClean="0"/>
              <a:t>‹#›</a:t>
            </a:fld>
            <a:endParaRPr lang="en-IN"/>
          </a:p>
        </p:txBody>
      </p:sp>
    </p:spTree>
    <p:extLst>
      <p:ext uri="{BB962C8B-B14F-4D97-AF65-F5344CB8AC3E}">
        <p14:creationId xmlns:p14="http://schemas.microsoft.com/office/powerpoint/2010/main" val="2203809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40D02-859C-27AF-23B6-062422045B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93279C-4050-7650-4E53-00F6A9FBC074}"/>
              </a:ext>
            </a:extLst>
          </p:cNvPr>
          <p:cNvSpPr>
            <a:spLocks noGrp="1"/>
          </p:cNvSpPr>
          <p:nvPr>
            <p:ph type="dt" sz="half" idx="10"/>
          </p:nvPr>
        </p:nvSpPr>
        <p:spPr/>
        <p:txBody>
          <a:bodyPr/>
          <a:lstStyle/>
          <a:p>
            <a:fld id="{98270B97-E0F0-43D3-A4FF-58F2CB0316C4}" type="datetimeFigureOut">
              <a:rPr lang="en-IN" smtClean="0"/>
              <a:t>01-06-2026</a:t>
            </a:fld>
            <a:endParaRPr lang="en-IN"/>
          </a:p>
        </p:txBody>
      </p:sp>
      <p:sp>
        <p:nvSpPr>
          <p:cNvPr id="4" name="Footer Placeholder 3">
            <a:extLst>
              <a:ext uri="{FF2B5EF4-FFF2-40B4-BE49-F238E27FC236}">
                <a16:creationId xmlns:a16="http://schemas.microsoft.com/office/drawing/2014/main" id="{30D4F168-9EE2-DF29-D52C-0A8811ED88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4474CA5-6190-8CB5-1C81-F02AF38CA3A2}"/>
              </a:ext>
            </a:extLst>
          </p:cNvPr>
          <p:cNvSpPr>
            <a:spLocks noGrp="1"/>
          </p:cNvSpPr>
          <p:nvPr>
            <p:ph type="sldNum" sz="quarter" idx="12"/>
          </p:nvPr>
        </p:nvSpPr>
        <p:spPr/>
        <p:txBody>
          <a:bodyPr/>
          <a:lstStyle/>
          <a:p>
            <a:fld id="{58347806-60BA-4F20-BFCD-CB4EE889CE88}" type="slidenum">
              <a:rPr lang="en-IN" smtClean="0"/>
              <a:t>‹#›</a:t>
            </a:fld>
            <a:endParaRPr lang="en-IN"/>
          </a:p>
        </p:txBody>
      </p:sp>
    </p:spTree>
    <p:extLst>
      <p:ext uri="{BB962C8B-B14F-4D97-AF65-F5344CB8AC3E}">
        <p14:creationId xmlns:p14="http://schemas.microsoft.com/office/powerpoint/2010/main" val="2806351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777D4B-2589-E144-C9E8-D0BC1F077759}"/>
              </a:ext>
            </a:extLst>
          </p:cNvPr>
          <p:cNvSpPr>
            <a:spLocks noGrp="1"/>
          </p:cNvSpPr>
          <p:nvPr>
            <p:ph type="dt" sz="half" idx="10"/>
          </p:nvPr>
        </p:nvSpPr>
        <p:spPr/>
        <p:txBody>
          <a:bodyPr/>
          <a:lstStyle/>
          <a:p>
            <a:fld id="{98270B97-E0F0-43D3-A4FF-58F2CB0316C4}" type="datetimeFigureOut">
              <a:rPr lang="en-IN" smtClean="0"/>
              <a:t>01-06-2026</a:t>
            </a:fld>
            <a:endParaRPr lang="en-IN"/>
          </a:p>
        </p:txBody>
      </p:sp>
      <p:sp>
        <p:nvSpPr>
          <p:cNvPr id="3" name="Footer Placeholder 2">
            <a:extLst>
              <a:ext uri="{FF2B5EF4-FFF2-40B4-BE49-F238E27FC236}">
                <a16:creationId xmlns:a16="http://schemas.microsoft.com/office/drawing/2014/main" id="{511BBD1F-B905-7A8B-8833-97AE9884E48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1B99F5-893F-C963-8994-4A4EF4DF789D}"/>
              </a:ext>
            </a:extLst>
          </p:cNvPr>
          <p:cNvSpPr>
            <a:spLocks noGrp="1"/>
          </p:cNvSpPr>
          <p:nvPr>
            <p:ph type="sldNum" sz="quarter" idx="12"/>
          </p:nvPr>
        </p:nvSpPr>
        <p:spPr/>
        <p:txBody>
          <a:bodyPr/>
          <a:lstStyle/>
          <a:p>
            <a:fld id="{58347806-60BA-4F20-BFCD-CB4EE889CE88}" type="slidenum">
              <a:rPr lang="en-IN" smtClean="0"/>
              <a:t>‹#›</a:t>
            </a:fld>
            <a:endParaRPr lang="en-IN"/>
          </a:p>
        </p:txBody>
      </p:sp>
    </p:spTree>
    <p:extLst>
      <p:ext uri="{BB962C8B-B14F-4D97-AF65-F5344CB8AC3E}">
        <p14:creationId xmlns:p14="http://schemas.microsoft.com/office/powerpoint/2010/main" val="2561309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62928-2329-55DE-44D7-D6A1123C47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9B925C9-FA3E-7297-4E54-24FC9AE09E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4809FA-D63C-388F-5C7F-51D8228063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E8A49F-C81A-9B66-B9B5-4C37556A4E8A}"/>
              </a:ext>
            </a:extLst>
          </p:cNvPr>
          <p:cNvSpPr>
            <a:spLocks noGrp="1"/>
          </p:cNvSpPr>
          <p:nvPr>
            <p:ph type="dt" sz="half" idx="10"/>
          </p:nvPr>
        </p:nvSpPr>
        <p:spPr/>
        <p:txBody>
          <a:bodyPr/>
          <a:lstStyle/>
          <a:p>
            <a:fld id="{98270B97-E0F0-43D3-A4FF-58F2CB0316C4}" type="datetimeFigureOut">
              <a:rPr lang="en-IN" smtClean="0"/>
              <a:t>01-06-2026</a:t>
            </a:fld>
            <a:endParaRPr lang="en-IN"/>
          </a:p>
        </p:txBody>
      </p:sp>
      <p:sp>
        <p:nvSpPr>
          <p:cNvPr id="6" name="Footer Placeholder 5">
            <a:extLst>
              <a:ext uri="{FF2B5EF4-FFF2-40B4-BE49-F238E27FC236}">
                <a16:creationId xmlns:a16="http://schemas.microsoft.com/office/drawing/2014/main" id="{7FF295B1-F3E2-B11C-8381-DA861C924E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6190A0-49A0-CA5D-FB43-9924AD325D67}"/>
              </a:ext>
            </a:extLst>
          </p:cNvPr>
          <p:cNvSpPr>
            <a:spLocks noGrp="1"/>
          </p:cNvSpPr>
          <p:nvPr>
            <p:ph type="sldNum" sz="quarter" idx="12"/>
          </p:nvPr>
        </p:nvSpPr>
        <p:spPr/>
        <p:txBody>
          <a:bodyPr/>
          <a:lstStyle/>
          <a:p>
            <a:fld id="{58347806-60BA-4F20-BFCD-CB4EE889CE88}" type="slidenum">
              <a:rPr lang="en-IN" smtClean="0"/>
              <a:t>‹#›</a:t>
            </a:fld>
            <a:endParaRPr lang="en-IN"/>
          </a:p>
        </p:txBody>
      </p:sp>
    </p:spTree>
    <p:extLst>
      <p:ext uri="{BB962C8B-B14F-4D97-AF65-F5344CB8AC3E}">
        <p14:creationId xmlns:p14="http://schemas.microsoft.com/office/powerpoint/2010/main" val="174907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E5570-EA14-93DB-9975-EAC7EAFCD9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AEF419-0B30-C64E-B12E-30C6101A29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2DB9776-EC79-AF3D-AEAF-4477CD849C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744F20-BC7D-80C1-96F1-7FCADEA31257}"/>
              </a:ext>
            </a:extLst>
          </p:cNvPr>
          <p:cNvSpPr>
            <a:spLocks noGrp="1"/>
          </p:cNvSpPr>
          <p:nvPr>
            <p:ph type="dt" sz="half" idx="10"/>
          </p:nvPr>
        </p:nvSpPr>
        <p:spPr/>
        <p:txBody>
          <a:bodyPr/>
          <a:lstStyle/>
          <a:p>
            <a:fld id="{98270B97-E0F0-43D3-A4FF-58F2CB0316C4}" type="datetimeFigureOut">
              <a:rPr lang="en-IN" smtClean="0"/>
              <a:t>01-06-2026</a:t>
            </a:fld>
            <a:endParaRPr lang="en-IN"/>
          </a:p>
        </p:txBody>
      </p:sp>
      <p:sp>
        <p:nvSpPr>
          <p:cNvPr id="6" name="Footer Placeholder 5">
            <a:extLst>
              <a:ext uri="{FF2B5EF4-FFF2-40B4-BE49-F238E27FC236}">
                <a16:creationId xmlns:a16="http://schemas.microsoft.com/office/drawing/2014/main" id="{F20CE283-05B8-29CB-885C-F00D60AF25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B26F11-AC9B-2F7A-A955-1A6E0D2BCA62}"/>
              </a:ext>
            </a:extLst>
          </p:cNvPr>
          <p:cNvSpPr>
            <a:spLocks noGrp="1"/>
          </p:cNvSpPr>
          <p:nvPr>
            <p:ph type="sldNum" sz="quarter" idx="12"/>
          </p:nvPr>
        </p:nvSpPr>
        <p:spPr/>
        <p:txBody>
          <a:bodyPr/>
          <a:lstStyle/>
          <a:p>
            <a:fld id="{58347806-60BA-4F20-BFCD-CB4EE889CE88}" type="slidenum">
              <a:rPr lang="en-IN" smtClean="0"/>
              <a:t>‹#›</a:t>
            </a:fld>
            <a:endParaRPr lang="en-IN"/>
          </a:p>
        </p:txBody>
      </p:sp>
    </p:spTree>
    <p:extLst>
      <p:ext uri="{BB962C8B-B14F-4D97-AF65-F5344CB8AC3E}">
        <p14:creationId xmlns:p14="http://schemas.microsoft.com/office/powerpoint/2010/main" val="123524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2526B-BA37-1D8B-5667-956ED02398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F969F4-3035-B63E-E25F-58B77F2C3F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FE2FA9-32C7-09AD-3E0D-D3BF29B4853C}"/>
              </a:ext>
            </a:extLst>
          </p:cNvPr>
          <p:cNvSpPr>
            <a:spLocks noGrp="1"/>
          </p:cNvSpPr>
          <p:nvPr>
            <p:ph type="dt" sz="half" idx="10"/>
          </p:nvPr>
        </p:nvSpPr>
        <p:spPr/>
        <p:txBody>
          <a:bodyPr/>
          <a:lstStyle/>
          <a:p>
            <a:fld id="{98270B97-E0F0-43D3-A4FF-58F2CB0316C4}" type="datetimeFigureOut">
              <a:rPr lang="en-IN" smtClean="0"/>
              <a:t>01-06-2026</a:t>
            </a:fld>
            <a:endParaRPr lang="en-IN"/>
          </a:p>
        </p:txBody>
      </p:sp>
      <p:sp>
        <p:nvSpPr>
          <p:cNvPr id="5" name="Footer Placeholder 4">
            <a:extLst>
              <a:ext uri="{FF2B5EF4-FFF2-40B4-BE49-F238E27FC236}">
                <a16:creationId xmlns:a16="http://schemas.microsoft.com/office/drawing/2014/main" id="{CC10C06C-A7FC-1AFE-FC24-AD390A8C95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A47C24-845F-82E8-3553-D233F1DEAB4B}"/>
              </a:ext>
            </a:extLst>
          </p:cNvPr>
          <p:cNvSpPr>
            <a:spLocks noGrp="1"/>
          </p:cNvSpPr>
          <p:nvPr>
            <p:ph type="sldNum" sz="quarter" idx="12"/>
          </p:nvPr>
        </p:nvSpPr>
        <p:spPr/>
        <p:txBody>
          <a:bodyPr/>
          <a:lstStyle/>
          <a:p>
            <a:fld id="{58347806-60BA-4F20-BFCD-CB4EE889CE88}" type="slidenum">
              <a:rPr lang="en-IN" smtClean="0"/>
              <a:t>‹#›</a:t>
            </a:fld>
            <a:endParaRPr lang="en-IN"/>
          </a:p>
        </p:txBody>
      </p:sp>
    </p:spTree>
    <p:extLst>
      <p:ext uri="{BB962C8B-B14F-4D97-AF65-F5344CB8AC3E}">
        <p14:creationId xmlns:p14="http://schemas.microsoft.com/office/powerpoint/2010/main" val="3181517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9DA2BE-6E4E-E383-030B-52CE48466B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8B6C0A-4A20-605C-C358-B9799E7DCE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75A96C-E835-F353-49A7-3342001601ED}"/>
              </a:ext>
            </a:extLst>
          </p:cNvPr>
          <p:cNvSpPr>
            <a:spLocks noGrp="1"/>
          </p:cNvSpPr>
          <p:nvPr>
            <p:ph type="dt" sz="half" idx="10"/>
          </p:nvPr>
        </p:nvSpPr>
        <p:spPr/>
        <p:txBody>
          <a:bodyPr/>
          <a:lstStyle/>
          <a:p>
            <a:fld id="{98270B97-E0F0-43D3-A4FF-58F2CB0316C4}" type="datetimeFigureOut">
              <a:rPr lang="en-IN" smtClean="0"/>
              <a:t>01-06-2026</a:t>
            </a:fld>
            <a:endParaRPr lang="en-IN"/>
          </a:p>
        </p:txBody>
      </p:sp>
      <p:sp>
        <p:nvSpPr>
          <p:cNvPr id="5" name="Footer Placeholder 4">
            <a:extLst>
              <a:ext uri="{FF2B5EF4-FFF2-40B4-BE49-F238E27FC236}">
                <a16:creationId xmlns:a16="http://schemas.microsoft.com/office/drawing/2014/main" id="{8F293915-3C1B-67CB-B661-0F2E7359CF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6E4C9-AABF-24A5-BF5D-F06344B94AB7}"/>
              </a:ext>
            </a:extLst>
          </p:cNvPr>
          <p:cNvSpPr>
            <a:spLocks noGrp="1"/>
          </p:cNvSpPr>
          <p:nvPr>
            <p:ph type="sldNum" sz="quarter" idx="12"/>
          </p:nvPr>
        </p:nvSpPr>
        <p:spPr/>
        <p:txBody>
          <a:bodyPr/>
          <a:lstStyle/>
          <a:p>
            <a:fld id="{58347806-60BA-4F20-BFCD-CB4EE889CE88}" type="slidenum">
              <a:rPr lang="en-IN" smtClean="0"/>
              <a:t>‹#›</a:t>
            </a:fld>
            <a:endParaRPr lang="en-IN"/>
          </a:p>
        </p:txBody>
      </p:sp>
    </p:spTree>
    <p:extLst>
      <p:ext uri="{BB962C8B-B14F-4D97-AF65-F5344CB8AC3E}">
        <p14:creationId xmlns:p14="http://schemas.microsoft.com/office/powerpoint/2010/main" val="1533561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E13A04-6400-A18A-AD94-509C09B296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552DF8D-82B3-B47F-7B81-279CAE93F7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456DE0-4B2A-51C6-5C75-50A80054A9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270B97-E0F0-43D3-A4FF-58F2CB0316C4}" type="datetimeFigureOut">
              <a:rPr lang="en-IN" smtClean="0"/>
              <a:t>01-06-2026</a:t>
            </a:fld>
            <a:endParaRPr lang="en-IN"/>
          </a:p>
        </p:txBody>
      </p:sp>
      <p:sp>
        <p:nvSpPr>
          <p:cNvPr id="5" name="Footer Placeholder 4">
            <a:extLst>
              <a:ext uri="{FF2B5EF4-FFF2-40B4-BE49-F238E27FC236}">
                <a16:creationId xmlns:a16="http://schemas.microsoft.com/office/drawing/2014/main" id="{522BA793-B155-2579-32A1-B3E7ADCA83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784FF40-8AA5-ED57-E870-E8AB4FFDA4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347806-60BA-4F20-BFCD-CB4EE889CE88}" type="slidenum">
              <a:rPr lang="en-IN" smtClean="0"/>
              <a:t>‹#›</a:t>
            </a:fld>
            <a:endParaRPr lang="en-IN"/>
          </a:p>
        </p:txBody>
      </p:sp>
    </p:spTree>
    <p:extLst>
      <p:ext uri="{BB962C8B-B14F-4D97-AF65-F5344CB8AC3E}">
        <p14:creationId xmlns:p14="http://schemas.microsoft.com/office/powerpoint/2010/main" val="2128628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hyperlink" Target="https://hackernoon.com/microservice-architecture-patterns-part-1-decomposition-patterns"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554480"/>
            <a:ext cx="9235440" cy="721360"/>
          </a:xfrm>
        </p:spPr>
        <p:txBody>
          <a:bodyPr>
            <a:normAutofit fontScale="90000"/>
          </a:bodyPr>
          <a:lstStyle/>
          <a:p>
            <a:br>
              <a:rPr lang="en-US" b="1" i="0">
                <a:effectLst/>
                <a:latin typeface="Montserrat" panose="020B0604020202020204" pitchFamily="2" charset="0"/>
              </a:rPr>
            </a:br>
            <a:r>
              <a:rPr lang="en-US" sz="4000" b="1">
                <a:latin typeface="Montserrat" panose="020B0604020202020204" pitchFamily="2" charset="0"/>
              </a:rPr>
              <a:t>Microservice Vs Monolithic</a:t>
            </a:r>
            <a:endParaRPr lang="en-IN" sz="40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540000"/>
            <a:ext cx="9144000" cy="4043680"/>
          </a:xfrm>
        </p:spPr>
        <p:txBody>
          <a:bodyPr>
            <a:noAutofit/>
          </a:bodyPr>
          <a:lstStyle/>
          <a:p>
            <a:pPr algn="l"/>
            <a:r>
              <a:rPr lang="en-US" sz="2800" b="0" i="0">
                <a:solidFill>
                  <a:srgbClr val="42526E"/>
                </a:solidFill>
                <a:effectLst/>
                <a:latin typeface="Charlie Display"/>
              </a:rPr>
              <a:t>A monolithic application is built as a single unified unit while a microservices architecture is a collection of smaller, independently deployable services.</a:t>
            </a:r>
          </a:p>
          <a:p>
            <a:pPr algn="l"/>
            <a:r>
              <a:rPr lang="en-US" sz="2800" b="0" i="0">
                <a:solidFill>
                  <a:srgbClr val="091E42"/>
                </a:solidFill>
                <a:effectLst/>
                <a:latin typeface="Charlie Text"/>
              </a:rPr>
              <a:t>A monolithic architecture is a traditional model of a software program, which is built as a unified unit that is self-contained and independent from other applications. The word “monolith” is often attributed to something large and glacial, which isn’t far from the truth of a monolith architecture for software design. A monolithic architecture is a singular, large computing network with one code base that couples all of the business concerns together</a:t>
            </a:r>
            <a:endParaRPr lang="en-IN" sz="2800" b="1"/>
          </a:p>
        </p:txBody>
      </p:sp>
    </p:spTree>
    <p:extLst>
      <p:ext uri="{BB962C8B-B14F-4D97-AF65-F5344CB8AC3E}">
        <p14:creationId xmlns:p14="http://schemas.microsoft.com/office/powerpoint/2010/main" val="2188153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554480"/>
            <a:ext cx="9235440" cy="721360"/>
          </a:xfrm>
        </p:spPr>
        <p:txBody>
          <a:bodyPr>
            <a:normAutofit fontScale="90000"/>
          </a:bodyPr>
          <a:lstStyle/>
          <a:p>
            <a:br>
              <a:rPr lang="en-US" b="1" i="0">
                <a:effectLst/>
                <a:latin typeface="Montserrat" panose="020B0604020202020204" pitchFamily="2" charset="0"/>
              </a:rPr>
            </a:br>
            <a:r>
              <a:rPr lang="en-US" sz="4000" b="1">
                <a:latin typeface="Montserrat" panose="020B0604020202020204" pitchFamily="2" charset="0"/>
              </a:rPr>
              <a:t>Microservice Vs Monolithic</a:t>
            </a:r>
            <a:endParaRPr lang="en-IN" sz="40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540000"/>
            <a:ext cx="9144000" cy="4043680"/>
          </a:xfrm>
        </p:spPr>
        <p:txBody>
          <a:bodyPr vert="horz" lIns="91440" tIns="45720" rIns="91440" bIns="45720" rtlCol="0" anchor="t">
            <a:noAutofit/>
          </a:bodyPr>
          <a:lstStyle/>
          <a:p>
            <a:pPr algn="l" fontAlgn="base"/>
            <a:r>
              <a:rPr lang="en-US" sz="2000" b="0" i="0">
                <a:solidFill>
                  <a:srgbClr val="091E42"/>
                </a:solidFill>
                <a:effectLst/>
                <a:latin typeface="Charlie Text"/>
              </a:rPr>
              <a:t>The advantages of a monolithic architecture include: </a:t>
            </a:r>
            <a:endParaRPr lang="en-US" sz="2000" b="0" i="0" dirty="0">
              <a:solidFill>
                <a:srgbClr val="091E42"/>
              </a:solidFill>
              <a:effectLst/>
              <a:latin typeface="Charlie Text"/>
            </a:endParaRPr>
          </a:p>
          <a:p>
            <a:pPr algn="l" fontAlgn="base"/>
            <a:r>
              <a:rPr lang="en-US" sz="2000" b="1" i="0">
                <a:solidFill>
                  <a:srgbClr val="091E42"/>
                </a:solidFill>
                <a:effectLst/>
                <a:latin typeface="Charlie Text"/>
              </a:rPr>
              <a:t>Easy deployment</a:t>
            </a:r>
            <a:r>
              <a:rPr lang="en-US" sz="2000" b="0" i="0">
                <a:solidFill>
                  <a:srgbClr val="091E42"/>
                </a:solidFill>
                <a:effectLst/>
                <a:latin typeface="Charlie Text"/>
              </a:rPr>
              <a:t> – One executable file or directory makes deployment easier.</a:t>
            </a:r>
            <a:endParaRPr lang="en-US" sz="2000" b="0" i="0" dirty="0">
              <a:solidFill>
                <a:srgbClr val="091E42"/>
              </a:solidFill>
              <a:effectLst/>
              <a:latin typeface="Charlie Text"/>
            </a:endParaRPr>
          </a:p>
          <a:p>
            <a:pPr algn="l" fontAlgn="base"/>
            <a:r>
              <a:rPr lang="en-US" sz="2000" b="1" i="0">
                <a:solidFill>
                  <a:srgbClr val="091E42"/>
                </a:solidFill>
                <a:effectLst/>
                <a:latin typeface="Charlie Text"/>
              </a:rPr>
              <a:t>Development</a:t>
            </a:r>
            <a:r>
              <a:rPr lang="en-US" sz="2000" b="0" i="0">
                <a:solidFill>
                  <a:srgbClr val="091E42"/>
                </a:solidFill>
                <a:effectLst/>
                <a:latin typeface="Charlie Text"/>
              </a:rPr>
              <a:t> – When an application is built with one code base, it is easier to develop.</a:t>
            </a:r>
            <a:endParaRPr lang="en-US" sz="2000" b="0" i="0" dirty="0">
              <a:solidFill>
                <a:srgbClr val="091E42"/>
              </a:solidFill>
              <a:effectLst/>
              <a:latin typeface="Charlie Text"/>
            </a:endParaRPr>
          </a:p>
          <a:p>
            <a:pPr algn="l" fontAlgn="base"/>
            <a:r>
              <a:rPr lang="en-US" sz="2000" b="1" i="0" dirty="0">
                <a:solidFill>
                  <a:srgbClr val="091E42"/>
                </a:solidFill>
                <a:effectLst/>
                <a:latin typeface="Charlie Text"/>
              </a:rPr>
              <a:t>Performance</a:t>
            </a:r>
            <a:r>
              <a:rPr lang="en-US" sz="2000" b="0" i="0" dirty="0">
                <a:solidFill>
                  <a:srgbClr val="091E42"/>
                </a:solidFill>
                <a:effectLst/>
                <a:latin typeface="Charlie Text"/>
              </a:rPr>
              <a:t> – In a centralized code base and repository, one API can often perform the same function that numerous APIs perform with microservices.</a:t>
            </a:r>
          </a:p>
          <a:p>
            <a:pPr algn="l" fontAlgn="base"/>
            <a:r>
              <a:rPr lang="en-US" sz="2000" b="1" i="0" dirty="0">
                <a:solidFill>
                  <a:srgbClr val="091E42"/>
                </a:solidFill>
                <a:effectLst/>
                <a:latin typeface="Charlie Text"/>
              </a:rPr>
              <a:t>Simplified testing</a:t>
            </a:r>
            <a:r>
              <a:rPr lang="en-US" sz="2000" b="0" i="0" dirty="0">
                <a:solidFill>
                  <a:srgbClr val="091E42"/>
                </a:solidFill>
                <a:effectLst/>
                <a:latin typeface="Charlie Text"/>
              </a:rPr>
              <a:t> – Since a monolithic application is a single, centralized unit, end-to-end testing can be performed faster than with a distributed application. </a:t>
            </a:r>
            <a:br>
              <a:rPr lang="en-US" sz="2000" b="0" i="0" dirty="0">
                <a:effectLst/>
                <a:latin typeface="Charlie Text"/>
              </a:rPr>
            </a:br>
            <a:br>
              <a:rPr lang="en-US" sz="2000" b="0" i="0" dirty="0">
                <a:effectLst/>
                <a:latin typeface="Charlie Text"/>
              </a:rPr>
            </a:br>
            <a:r>
              <a:rPr lang="en-US" sz="2000" b="1" i="0" dirty="0">
                <a:solidFill>
                  <a:srgbClr val="091E42"/>
                </a:solidFill>
                <a:effectLst/>
                <a:latin typeface="Charlie Text"/>
              </a:rPr>
              <a:t>Easy debugging</a:t>
            </a:r>
            <a:r>
              <a:rPr lang="en-US" sz="2000" b="0" i="0" dirty="0">
                <a:solidFill>
                  <a:srgbClr val="091E42"/>
                </a:solidFill>
                <a:effectLst/>
                <a:latin typeface="Charlie Text"/>
              </a:rPr>
              <a:t> – With all code located in one place, it’s easier to follow a request and find an issue.</a:t>
            </a:r>
          </a:p>
          <a:p>
            <a:pPr algn="l"/>
            <a:endParaRPr lang="en-IN" sz="2000" b="1" dirty="0">
              <a:ea typeface="Calibri"/>
              <a:cs typeface="Calibri"/>
            </a:endParaRPr>
          </a:p>
        </p:txBody>
      </p:sp>
    </p:spTree>
    <p:extLst>
      <p:ext uri="{BB962C8B-B14F-4D97-AF65-F5344CB8AC3E}">
        <p14:creationId xmlns:p14="http://schemas.microsoft.com/office/powerpoint/2010/main" val="681157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554480"/>
            <a:ext cx="9235440" cy="721360"/>
          </a:xfrm>
        </p:spPr>
        <p:txBody>
          <a:bodyPr>
            <a:normAutofit fontScale="90000"/>
          </a:bodyPr>
          <a:lstStyle/>
          <a:p>
            <a:br>
              <a:rPr lang="en-US" b="1" i="0">
                <a:effectLst/>
                <a:latin typeface="Montserrat" panose="020B0604020202020204" pitchFamily="2" charset="0"/>
              </a:rPr>
            </a:br>
            <a:r>
              <a:rPr lang="en-US" sz="4000" b="1">
                <a:latin typeface="Montserrat" panose="020B0604020202020204" pitchFamily="2" charset="0"/>
              </a:rPr>
              <a:t>Microservice Vs Monolithic</a:t>
            </a:r>
            <a:endParaRPr lang="en-IN" sz="40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540000"/>
            <a:ext cx="9144000" cy="4043680"/>
          </a:xfrm>
        </p:spPr>
        <p:txBody>
          <a:bodyPr>
            <a:noAutofit/>
          </a:bodyPr>
          <a:lstStyle/>
          <a:p>
            <a:pPr algn="l" fontAlgn="base"/>
            <a:r>
              <a:rPr lang="en-US" b="0" i="0">
                <a:solidFill>
                  <a:srgbClr val="091E42"/>
                </a:solidFill>
                <a:effectLst/>
                <a:latin typeface="Charlie Text"/>
              </a:rPr>
              <a:t>The disadvantages of a monolith include: </a:t>
            </a:r>
          </a:p>
          <a:p>
            <a:pPr algn="l" fontAlgn="base"/>
            <a:r>
              <a:rPr lang="en-US" b="1" i="0">
                <a:solidFill>
                  <a:srgbClr val="091E42"/>
                </a:solidFill>
                <a:effectLst/>
                <a:latin typeface="Charlie Text"/>
              </a:rPr>
              <a:t>Slower development speed</a:t>
            </a:r>
            <a:r>
              <a:rPr lang="en-US" b="0" i="0">
                <a:solidFill>
                  <a:srgbClr val="091E42"/>
                </a:solidFill>
                <a:effectLst/>
                <a:latin typeface="Charlie Text"/>
              </a:rPr>
              <a:t> – A large, monolithic application makes development more complex and slower.</a:t>
            </a:r>
          </a:p>
          <a:p>
            <a:pPr algn="l" fontAlgn="base"/>
            <a:r>
              <a:rPr lang="en-US" b="1" i="0">
                <a:solidFill>
                  <a:srgbClr val="091E42"/>
                </a:solidFill>
                <a:effectLst/>
                <a:latin typeface="Charlie Text"/>
              </a:rPr>
              <a:t>Scalability</a:t>
            </a:r>
            <a:r>
              <a:rPr lang="en-US" b="0" i="0">
                <a:solidFill>
                  <a:srgbClr val="091E42"/>
                </a:solidFill>
                <a:effectLst/>
                <a:latin typeface="Charlie Text"/>
              </a:rPr>
              <a:t> – You can’t scale individual components.</a:t>
            </a:r>
          </a:p>
          <a:p>
            <a:pPr algn="l" fontAlgn="base"/>
            <a:r>
              <a:rPr lang="en-US" b="1" i="0">
                <a:solidFill>
                  <a:srgbClr val="091E42"/>
                </a:solidFill>
                <a:effectLst/>
                <a:latin typeface="Charlie Text"/>
              </a:rPr>
              <a:t>Reliability</a:t>
            </a:r>
            <a:r>
              <a:rPr lang="en-US" b="0" i="0">
                <a:solidFill>
                  <a:srgbClr val="091E42"/>
                </a:solidFill>
                <a:effectLst/>
                <a:latin typeface="Charlie Text"/>
              </a:rPr>
              <a:t> – If there’s an error in any module, it could affect the entire application’s availability.</a:t>
            </a:r>
          </a:p>
          <a:p>
            <a:pPr algn="l" fontAlgn="base"/>
            <a:r>
              <a:rPr lang="en-US" b="1" i="0">
                <a:solidFill>
                  <a:srgbClr val="091E42"/>
                </a:solidFill>
                <a:effectLst/>
                <a:latin typeface="Charlie Text"/>
              </a:rPr>
              <a:t>Barrier to technology adoption</a:t>
            </a:r>
            <a:r>
              <a:rPr lang="en-US" b="0" i="0">
                <a:solidFill>
                  <a:srgbClr val="091E42"/>
                </a:solidFill>
                <a:effectLst/>
                <a:latin typeface="Charlie Text"/>
              </a:rPr>
              <a:t> – Any changes in the framework or language affects the entire application, making changes often expensive and time-consuming.</a:t>
            </a:r>
          </a:p>
          <a:p>
            <a:pPr algn="l" fontAlgn="base"/>
            <a:r>
              <a:rPr lang="en-US" b="1" i="0">
                <a:solidFill>
                  <a:srgbClr val="091E42"/>
                </a:solidFill>
                <a:effectLst/>
                <a:latin typeface="Charlie Text"/>
              </a:rPr>
              <a:t>Lack of flexibility</a:t>
            </a:r>
            <a:r>
              <a:rPr lang="en-US" b="0" i="0">
                <a:solidFill>
                  <a:srgbClr val="091E42"/>
                </a:solidFill>
                <a:effectLst/>
                <a:latin typeface="Charlie Text"/>
              </a:rPr>
              <a:t> – A monolith is constrained by the technologies already used in the monolith.</a:t>
            </a:r>
          </a:p>
          <a:p>
            <a:pPr algn="l"/>
            <a:endParaRPr lang="en-IN" sz="2800" b="1"/>
          </a:p>
        </p:txBody>
      </p:sp>
    </p:spTree>
    <p:extLst>
      <p:ext uri="{BB962C8B-B14F-4D97-AF65-F5344CB8AC3E}">
        <p14:creationId xmlns:p14="http://schemas.microsoft.com/office/powerpoint/2010/main" val="4022914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554480"/>
            <a:ext cx="9235440" cy="721360"/>
          </a:xfrm>
        </p:spPr>
        <p:txBody>
          <a:bodyPr>
            <a:normAutofit fontScale="90000"/>
          </a:bodyPr>
          <a:lstStyle/>
          <a:p>
            <a:br>
              <a:rPr lang="en-US" b="1" i="0">
                <a:effectLst/>
                <a:latin typeface="Montserrat" panose="020B0604020202020204" pitchFamily="2" charset="0"/>
              </a:rPr>
            </a:br>
            <a:r>
              <a:rPr lang="en-US" sz="4000" b="1">
                <a:latin typeface="Montserrat" panose="020B0604020202020204" pitchFamily="2" charset="0"/>
              </a:rPr>
              <a:t>Microservice Vs Monolithic</a:t>
            </a:r>
            <a:endParaRPr lang="en-IN" sz="40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540000"/>
            <a:ext cx="9235440" cy="4318000"/>
          </a:xfrm>
        </p:spPr>
        <p:txBody>
          <a:bodyPr>
            <a:noAutofit/>
          </a:bodyPr>
          <a:lstStyle/>
          <a:p>
            <a:pPr algn="l" fontAlgn="base"/>
            <a:r>
              <a:rPr lang="en-US" sz="2800" b="0" i="0">
                <a:solidFill>
                  <a:srgbClr val="091E42"/>
                </a:solidFill>
                <a:effectLst/>
                <a:latin typeface="Charlie Text"/>
              </a:rPr>
              <a:t>A </a:t>
            </a:r>
            <a:r>
              <a:rPr lang="en-US" sz="2800" b="1" i="0">
                <a:solidFill>
                  <a:srgbClr val="091E42"/>
                </a:solidFill>
                <a:effectLst/>
                <a:latin typeface="Charlie Text"/>
              </a:rPr>
              <a:t>microservices architecture</a:t>
            </a:r>
            <a:r>
              <a:rPr lang="en-US" sz="2800" b="0" i="0">
                <a:solidFill>
                  <a:srgbClr val="091E42"/>
                </a:solidFill>
                <a:effectLst/>
                <a:latin typeface="Charlie Text"/>
              </a:rPr>
              <a:t>, also simply known as microservices, is an architectural method that relies on a series of independently deployable services. These services have their own business logic and database with a specific goal. Updating, testing, deployment, and scaling occur within each service. Microservices decouple major business, domain-specific concerns into separate, independent code bases. Microservices don’t reduce complexity, but they make any complexity visible and more manageable by separating tasks into smaller processes that function independently of each other and contribute to the overall whole. </a:t>
            </a:r>
            <a:endParaRPr lang="en-IN" sz="2800" b="1"/>
          </a:p>
        </p:txBody>
      </p:sp>
    </p:spTree>
    <p:extLst>
      <p:ext uri="{BB962C8B-B14F-4D97-AF65-F5344CB8AC3E}">
        <p14:creationId xmlns:p14="http://schemas.microsoft.com/office/powerpoint/2010/main" val="1588745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474395" y="424927"/>
            <a:ext cx="9235440" cy="721360"/>
          </a:xfrm>
        </p:spPr>
        <p:txBody>
          <a:bodyPr>
            <a:normAutofit fontScale="90000"/>
          </a:bodyPr>
          <a:lstStyle/>
          <a:p>
            <a:br>
              <a:rPr lang="en-US" b="1" i="0">
                <a:effectLst/>
                <a:latin typeface="Montserrat" panose="020B0604020202020204" pitchFamily="2" charset="0"/>
              </a:rPr>
            </a:br>
            <a:r>
              <a:rPr lang="en-US" sz="4000" b="1">
                <a:latin typeface="Montserrat" panose="020B0604020202020204" pitchFamily="2" charset="0"/>
              </a:rPr>
              <a:t>Microservice Advantage</a:t>
            </a:r>
            <a:endParaRPr lang="en-IN" sz="40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479176" y="1267012"/>
            <a:ext cx="9235440" cy="4318000"/>
          </a:xfrm>
        </p:spPr>
        <p:txBody>
          <a:bodyPr vert="horz" lIns="91440" tIns="45720" rIns="91440" bIns="45720" rtlCol="0" anchor="t">
            <a:noAutofit/>
          </a:bodyPr>
          <a:lstStyle/>
          <a:p>
            <a:pPr algn="l" fontAlgn="base"/>
            <a:r>
              <a:rPr lang="en-US" sz="2800" b="1"/>
              <a:t>Agility – Promote agile ways of working with small teams that deploy frequently.</a:t>
            </a:r>
            <a:endParaRPr lang="en-US" sz="2800"/>
          </a:p>
          <a:p>
            <a:pPr algn="l" fontAlgn="base"/>
            <a:r>
              <a:rPr lang="en-US" sz="2800" b="1"/>
              <a:t>Flexible scaling – If a microservice reaches its load capacity, new instances of that service can rapidly be deployed to the accompanying cluster to help relieve pressure.</a:t>
            </a:r>
            <a:endParaRPr lang="en-US" sz="2800" b="1">
              <a:ea typeface="Calibri"/>
              <a:cs typeface="Calibri"/>
            </a:endParaRPr>
          </a:p>
          <a:p>
            <a:pPr algn="l" fontAlgn="base"/>
            <a:r>
              <a:rPr lang="en-US" sz="2800" b="1"/>
              <a:t>Continuous deployment – We now have frequent and faster release cycles. Before we would push out updates once a week and now we can do so about two to three times a day.</a:t>
            </a:r>
            <a:endParaRPr lang="en-US" sz="2800" b="1">
              <a:ea typeface="Calibri"/>
              <a:cs typeface="Calibri"/>
            </a:endParaRPr>
          </a:p>
          <a:p>
            <a:pPr algn="l" fontAlgn="base"/>
            <a:r>
              <a:rPr lang="en-US" sz="2800" b="1"/>
              <a:t>Highly maintainable and testable – Teams can experiment with new features and roll back if something doesn’t works. makes it easier to update code and accelerates time-to-market for new features. Plus, it is easy to isolate and fix faults and bugs in individual services.</a:t>
            </a:r>
            <a:endParaRPr lang="en-US" sz="2800" b="1">
              <a:ea typeface="Calibri"/>
              <a:cs typeface="Calibri"/>
            </a:endParaRPr>
          </a:p>
          <a:p>
            <a:pPr algn="l" fontAlgn="base"/>
            <a:endParaRPr lang="en-IN" sz="2800" b="1"/>
          </a:p>
        </p:txBody>
      </p:sp>
    </p:spTree>
    <p:extLst>
      <p:ext uri="{BB962C8B-B14F-4D97-AF65-F5344CB8AC3E}">
        <p14:creationId xmlns:p14="http://schemas.microsoft.com/office/powerpoint/2010/main" val="304147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554480"/>
            <a:ext cx="9235440" cy="721360"/>
          </a:xfrm>
        </p:spPr>
        <p:txBody>
          <a:bodyPr>
            <a:normAutofit fontScale="90000"/>
          </a:bodyPr>
          <a:lstStyle/>
          <a:p>
            <a:br>
              <a:rPr lang="en-US" b="1" i="0">
                <a:effectLst/>
                <a:latin typeface="Montserrat" panose="020B0604020202020204" pitchFamily="2" charset="0"/>
              </a:rPr>
            </a:br>
            <a:r>
              <a:rPr lang="en-US" sz="4000" b="1">
                <a:latin typeface="Montserrat" panose="020B0604020202020204" pitchFamily="2" charset="0"/>
              </a:rPr>
              <a:t>Microservice disadvantage</a:t>
            </a:r>
            <a:endParaRPr lang="en-IN" sz="40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540000"/>
            <a:ext cx="9235440" cy="4318000"/>
          </a:xfrm>
        </p:spPr>
        <p:txBody>
          <a:bodyPr>
            <a:noAutofit/>
          </a:bodyPr>
          <a:lstStyle/>
          <a:p>
            <a:pPr algn="l" fontAlgn="base"/>
            <a:r>
              <a:rPr lang="en-US" sz="2800" b="1"/>
              <a:t>Exponential infrastructure costs – </a:t>
            </a:r>
            <a:r>
              <a:rPr lang="en-US" sz="2800"/>
              <a:t>Each new microservice can have its own cost for test suite, deployment playbooks, hosting infrastructure, monitoring tools, and more.</a:t>
            </a:r>
          </a:p>
          <a:p>
            <a:pPr algn="l" fontAlgn="base"/>
            <a:r>
              <a:rPr lang="en-US" sz="2800" b="1"/>
              <a:t>Added organizational overhead – </a:t>
            </a:r>
            <a:r>
              <a:rPr lang="en-US" sz="2800"/>
              <a:t>Teams need to add another level of communication and collaboration to coordinate updates and interfaces. </a:t>
            </a:r>
          </a:p>
          <a:p>
            <a:pPr algn="l" fontAlgn="base"/>
            <a:r>
              <a:rPr lang="en-US" sz="2800" b="1"/>
              <a:t>Debugging challenges – </a:t>
            </a:r>
            <a:r>
              <a:rPr lang="en-US" sz="2800"/>
              <a:t>Each microservice has its own set of logs, which makes debugging more complicated. Plus, a single business process can run across multiple machines, further complicating debugging. </a:t>
            </a:r>
          </a:p>
          <a:p>
            <a:pPr algn="l" fontAlgn="base"/>
            <a:endParaRPr lang="en-US" sz="2800" b="1"/>
          </a:p>
          <a:p>
            <a:pPr algn="l" fontAlgn="base"/>
            <a:endParaRPr lang="en-IN" sz="2800" b="1"/>
          </a:p>
        </p:txBody>
      </p:sp>
    </p:spTree>
    <p:extLst>
      <p:ext uri="{BB962C8B-B14F-4D97-AF65-F5344CB8AC3E}">
        <p14:creationId xmlns:p14="http://schemas.microsoft.com/office/powerpoint/2010/main" val="3682265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554480"/>
            <a:ext cx="9235440" cy="721360"/>
          </a:xfrm>
        </p:spPr>
        <p:txBody>
          <a:bodyPr>
            <a:normAutofit fontScale="90000"/>
          </a:bodyPr>
          <a:lstStyle/>
          <a:p>
            <a:br>
              <a:rPr lang="en-US" b="1" i="0">
                <a:effectLst/>
                <a:latin typeface="Montserrat" panose="020B0604020202020204" pitchFamily="2" charset="0"/>
              </a:rPr>
            </a:br>
            <a:r>
              <a:rPr lang="en-US" sz="4000" b="1">
                <a:latin typeface="Montserrat" panose="020B0604020202020204" pitchFamily="2" charset="0"/>
              </a:rPr>
              <a:t>Microservice disadvantage</a:t>
            </a:r>
            <a:endParaRPr lang="en-IN" sz="40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540000"/>
            <a:ext cx="9235440" cy="4318000"/>
          </a:xfrm>
        </p:spPr>
        <p:txBody>
          <a:bodyPr>
            <a:noAutofit/>
          </a:bodyPr>
          <a:lstStyle/>
          <a:p>
            <a:pPr algn="l" fontAlgn="base"/>
            <a:r>
              <a:rPr lang="en-US" sz="2800" b="1"/>
              <a:t>Lack of standardization – </a:t>
            </a:r>
            <a:r>
              <a:rPr lang="en-US" sz="2800"/>
              <a:t>Without a common platform, there can be a proliferation of languages, logging standards, and monitoring. </a:t>
            </a:r>
          </a:p>
          <a:p>
            <a:pPr algn="l" fontAlgn="base"/>
            <a:r>
              <a:rPr lang="en-US" sz="2800" b="1"/>
              <a:t>Lack of clear ownership – </a:t>
            </a:r>
            <a:r>
              <a:rPr lang="en-US" sz="2800"/>
              <a:t>As more services are introduced, so are the number of teams running those services. Over time it becomes difficult to know the available services a team can leverage and who to contact for support.</a:t>
            </a:r>
          </a:p>
        </p:txBody>
      </p:sp>
    </p:spTree>
    <p:extLst>
      <p:ext uri="{BB962C8B-B14F-4D97-AF65-F5344CB8AC3E}">
        <p14:creationId xmlns:p14="http://schemas.microsoft.com/office/powerpoint/2010/main" val="124861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066800"/>
            <a:ext cx="86868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4400" b="1" i="0">
                <a:effectLst/>
                <a:latin typeface="Montserrat" panose="00000500000000000000" pitchFamily="2" charset="0"/>
              </a:rPr>
              <a:t>Types of Microservice</a:t>
            </a:r>
            <a:endParaRPr lang="en-IN" sz="44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032000"/>
            <a:ext cx="9144000" cy="4551680"/>
          </a:xfrm>
        </p:spPr>
        <p:txBody>
          <a:bodyPr>
            <a:normAutofit/>
          </a:bodyPr>
          <a:lstStyle/>
          <a:p>
            <a:pPr marL="457200"/>
            <a:r>
              <a:rPr lang="en-IN" b="1">
                <a:solidFill>
                  <a:srgbClr val="000000"/>
                </a:solidFill>
                <a:effectLst/>
                <a:latin typeface="Open Sans" panose="020B0606030504020204" pitchFamily="34" charset="0"/>
                <a:ea typeface="Times New Roman" panose="02020603050405020304" pitchFamily="18" charset="0"/>
              </a:rPr>
              <a:t>Microservices are of two types:</a:t>
            </a:r>
          </a:p>
          <a:p>
            <a:pPr marL="457200" algn="l"/>
            <a:endParaRPr lang="en-IN" sz="1800" b="1">
              <a:solidFill>
                <a:srgbClr val="000000"/>
              </a:solidFill>
              <a:latin typeface="Open Sans" panose="020B0606030504020204" pitchFamily="34" charset="0"/>
              <a:ea typeface="Times New Roman" panose="02020603050405020304" pitchFamily="18" charset="0"/>
            </a:endParaRPr>
          </a:p>
          <a:p>
            <a:pPr marL="457200" algn="l"/>
            <a:r>
              <a:rPr lang="en-IN" b="1" i="1" kern="100">
                <a:effectLst/>
                <a:latin typeface="Calibri" panose="020F0502020204030204" pitchFamily="34" charset="0"/>
                <a:ea typeface="Calibri" panose="020F0502020204030204" pitchFamily="34" charset="0"/>
                <a:cs typeface="Times New Roman" panose="02020603050405020304" pitchFamily="18" charset="0"/>
              </a:rPr>
              <a:t>Stateless microservices: </a:t>
            </a:r>
            <a:r>
              <a:rPr lang="en-IN" kern="100">
                <a:effectLst/>
                <a:latin typeface="Calibri" panose="020F0502020204030204" pitchFamily="34" charset="0"/>
                <a:ea typeface="Calibri" panose="020F0502020204030204" pitchFamily="34" charset="0"/>
                <a:cs typeface="Times New Roman" panose="02020603050405020304" pitchFamily="18" charset="0"/>
              </a:rPr>
              <a:t>Stateless microservices are the building blocks of a distributed system. They don’t maintain a session state between requests. If any service is removed, it won't affect the overall performance logic for the service.</a:t>
            </a:r>
          </a:p>
          <a:p>
            <a:pPr marL="457200" algn="l"/>
            <a:endParaRPr lang="en-IN" b="1">
              <a:solidFill>
                <a:srgbClr val="000000"/>
              </a:solidFill>
              <a:latin typeface="Open Sans" panose="020B0606030504020204" pitchFamily="34" charset="0"/>
              <a:ea typeface="Times New Roman" panose="02020603050405020304" pitchFamily="18" charset="0"/>
            </a:endParaRPr>
          </a:p>
          <a:p>
            <a:pPr marL="457200" algn="l"/>
            <a:r>
              <a:rPr lang="en-IN" b="1" i="1" kern="100">
                <a:effectLst/>
                <a:latin typeface="Calibri" panose="020F0502020204030204" pitchFamily="34" charset="0"/>
                <a:ea typeface="Calibri" panose="020F0502020204030204" pitchFamily="34" charset="0"/>
                <a:cs typeface="Times New Roman" panose="02020603050405020304" pitchFamily="18" charset="0"/>
              </a:rPr>
              <a:t>Stateful Microservices </a:t>
            </a:r>
            <a:r>
              <a:rPr lang="en-IN" kern="100">
                <a:effectLst/>
                <a:latin typeface="Calibri" panose="020F0502020204030204" pitchFamily="34" charset="0"/>
                <a:ea typeface="Calibri" panose="020F0502020204030204" pitchFamily="34" charset="0"/>
                <a:cs typeface="Times New Roman" panose="02020603050405020304" pitchFamily="18" charset="0"/>
              </a:rPr>
              <a:t>Compared to stateless microservices, stateful microservices are less preferred in real life. They maintain session information in the code. And when more than two services interact with each other, they keep a service request state.</a:t>
            </a:r>
          </a:p>
          <a:p>
            <a:pPr marL="457200" algn="l"/>
            <a:endParaRPr lang="en-IN" sz="1800" b="1">
              <a:latin typeface="Times New Roman" panose="02020603050405020304" pitchFamily="18" charset="0"/>
              <a:ea typeface="Times New Roman" panose="02020603050405020304" pitchFamily="18" charset="0"/>
            </a:endParaRPr>
          </a:p>
          <a:p>
            <a:pPr algn="l" fontAlgn="base"/>
            <a:endParaRPr lang="en-US">
              <a:solidFill>
                <a:srgbClr val="000000"/>
              </a:solidFill>
              <a:latin typeface="Source Sans Pro" panose="020B0503030403020204" pitchFamily="34" charset="0"/>
            </a:endParaRPr>
          </a:p>
          <a:p>
            <a:pPr algn="l" fontAlgn="base"/>
            <a:endParaRPr lang="en-US" b="0" i="0">
              <a:solidFill>
                <a:srgbClr val="000000"/>
              </a:solidFill>
              <a:effectLst/>
              <a:latin typeface="Source Sans Pro" panose="020B0503030403020204" pitchFamily="34" charset="0"/>
            </a:endParaRPr>
          </a:p>
          <a:p>
            <a:pPr algn="l" fontAlgn="base"/>
            <a:endParaRPr lang="en-IN"/>
          </a:p>
        </p:txBody>
      </p:sp>
    </p:spTree>
    <p:extLst>
      <p:ext uri="{BB962C8B-B14F-4D97-AF65-F5344CB8AC3E}">
        <p14:creationId xmlns:p14="http://schemas.microsoft.com/office/powerpoint/2010/main" val="3644519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066800"/>
            <a:ext cx="86868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4000" b="1" i="0">
                <a:effectLst/>
                <a:latin typeface="Montserrat" panose="00000500000000000000" pitchFamily="2" charset="0"/>
              </a:rPr>
              <a:t>Types of projects on Microservice</a:t>
            </a:r>
            <a:endParaRPr lang="en-IN" sz="40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032000"/>
            <a:ext cx="9144000" cy="4551680"/>
          </a:xfrm>
        </p:spPr>
        <p:txBody>
          <a:bodyPr>
            <a:normAutofit/>
          </a:bodyPr>
          <a:lstStyle/>
          <a:p>
            <a:pPr fontAlgn="base">
              <a:lnSpc>
                <a:spcPct val="107000"/>
              </a:lnSpc>
              <a:spcBef>
                <a:spcPts val="200"/>
              </a:spcBef>
            </a:pPr>
            <a:r>
              <a:rPr lang="en-IN" sz="2800" b="1" i="1" kern="100">
                <a:solidFill>
                  <a:srgbClr val="27272A"/>
                </a:solidFill>
                <a:effectLst/>
                <a:latin typeface="inherit"/>
                <a:ea typeface="Times New Roman" panose="02020603050405020304" pitchFamily="18" charset="0"/>
                <a:cs typeface="Open Sans" panose="020B0606030504020204" pitchFamily="34" charset="0"/>
              </a:rPr>
              <a:t>Under microservices, there are two types of projects.</a:t>
            </a:r>
            <a:endParaRPr lang="en-IN" sz="2800" b="1" i="1" kern="10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lvl="0" indent="-342900" algn="l" fontAlgn="base">
              <a:lnSpc>
                <a:spcPct val="107000"/>
              </a:lnSpc>
              <a:spcAft>
                <a:spcPts val="800"/>
              </a:spcAft>
              <a:buFont typeface="+mj-lt"/>
              <a:buAutoNum type="arabicPeriod"/>
              <a:tabLst>
                <a:tab pos="457200" algn="l"/>
              </a:tabLst>
            </a:pPr>
            <a:r>
              <a:rPr lang="en-IN" b="1" kern="100">
                <a:solidFill>
                  <a:srgbClr val="3F3F46"/>
                </a:solidFill>
                <a:effectLst/>
                <a:latin typeface="inherit"/>
                <a:ea typeface="Calibri" panose="020F0502020204030204" pitchFamily="34" charset="0"/>
                <a:cs typeface="Open Sans" panose="020B0606030504020204" pitchFamily="34" charset="0"/>
              </a:rPr>
              <a:t>Brownfield projects </a:t>
            </a:r>
            <a:r>
              <a:rPr lang="en-IN" kern="100">
                <a:solidFill>
                  <a:srgbClr val="3F3F46"/>
                </a:solidFill>
                <a:effectLst/>
                <a:latin typeface="inherit"/>
                <a:ea typeface="Calibri" panose="020F0502020204030204" pitchFamily="34" charset="0"/>
                <a:cs typeface="Open Sans" panose="020B0606030504020204" pitchFamily="34" charset="0"/>
              </a:rPr>
              <a:t>—It refers to the development and deployment of a new software system within the context of existing or legacy systems. Therefore, converting a monolithic application to microservices would fall under this project.</a:t>
            </a:r>
            <a:endParaRPr lang="en-IN" kern="100">
              <a:solidFill>
                <a:srgbClr val="3F3F4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fontAlgn="base">
              <a:lnSpc>
                <a:spcPct val="107000"/>
              </a:lnSpc>
              <a:spcAft>
                <a:spcPts val="800"/>
              </a:spcAft>
              <a:buFont typeface="+mj-lt"/>
              <a:buAutoNum type="arabicPeriod"/>
              <a:tabLst>
                <a:tab pos="457200" algn="l"/>
              </a:tabLst>
            </a:pPr>
            <a:r>
              <a:rPr lang="en-IN" b="1" kern="100">
                <a:solidFill>
                  <a:srgbClr val="3F3F46"/>
                </a:solidFill>
                <a:effectLst/>
                <a:latin typeface="inherit"/>
                <a:ea typeface="Calibri" panose="020F0502020204030204" pitchFamily="34" charset="0"/>
                <a:cs typeface="Open Sans" panose="020B0606030504020204" pitchFamily="34" charset="0"/>
              </a:rPr>
              <a:t>Greenfield projects</a:t>
            </a:r>
            <a:r>
              <a:rPr lang="en-IN" kern="100">
                <a:solidFill>
                  <a:srgbClr val="3F3F46"/>
                </a:solidFill>
                <a:effectLst/>
                <a:latin typeface="inherit"/>
                <a:ea typeface="Calibri" panose="020F0502020204030204" pitchFamily="34" charset="0"/>
                <a:cs typeface="Open Sans" panose="020B0606030504020204" pitchFamily="34" charset="0"/>
              </a:rPr>
              <a:t> — This involves creating a system from scratch for a completely new environment, without any legacy code to work from. An approach used when you’re starting from scratch with no restrictions or dependencies.</a:t>
            </a:r>
            <a:endParaRPr lang="en-IN" kern="100">
              <a:solidFill>
                <a:srgbClr val="3F3F46"/>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16100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066800"/>
            <a:ext cx="86868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4000" b="1" kern="0">
                <a:solidFill>
                  <a:srgbClr val="000000"/>
                </a:solidFill>
                <a:effectLst/>
                <a:latin typeface="Open Sans" panose="020B0606030504020204" pitchFamily="34" charset="0"/>
                <a:ea typeface="Times New Roman" panose="02020603050405020304" pitchFamily="18" charset="0"/>
              </a:rPr>
              <a:t>Microservices Architecture</a:t>
            </a:r>
            <a:endParaRPr lang="en-IN" sz="4000"/>
          </a:p>
        </p:txBody>
      </p:sp>
      <p:pic>
        <p:nvPicPr>
          <p:cNvPr id="6" name="Picture 5" descr="Microservice Using ASP.NET Core">
            <a:extLst>
              <a:ext uri="{FF2B5EF4-FFF2-40B4-BE49-F238E27FC236}">
                <a16:creationId xmlns:a16="http://schemas.microsoft.com/office/drawing/2014/main" id="{23C3DC4E-A480-46D7-12B5-EBBB355DFFD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51236" y="1860550"/>
            <a:ext cx="8313564" cy="4438650"/>
          </a:xfrm>
          <a:prstGeom prst="rect">
            <a:avLst/>
          </a:prstGeom>
          <a:noFill/>
          <a:ln>
            <a:noFill/>
          </a:ln>
        </p:spPr>
      </p:pic>
    </p:spTree>
    <p:extLst>
      <p:ext uri="{BB962C8B-B14F-4D97-AF65-F5344CB8AC3E}">
        <p14:creationId xmlns:p14="http://schemas.microsoft.com/office/powerpoint/2010/main" val="2526538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066800"/>
            <a:ext cx="86868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4000" b="1" kern="0">
                <a:solidFill>
                  <a:srgbClr val="000000"/>
                </a:solidFill>
                <a:effectLst/>
                <a:latin typeface="Open Sans" panose="020B0606030504020204" pitchFamily="34" charset="0"/>
                <a:ea typeface="Times New Roman" panose="02020603050405020304" pitchFamily="18" charset="0"/>
              </a:rPr>
              <a:t>Microservices Architecture</a:t>
            </a:r>
            <a:endParaRPr lang="en-IN" sz="40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032000"/>
            <a:ext cx="9144000" cy="4551680"/>
          </a:xfrm>
        </p:spPr>
        <p:txBody>
          <a:bodyPr>
            <a:noAutofit/>
          </a:bodyPr>
          <a:lstStyle/>
          <a:p>
            <a:pPr algn="l"/>
            <a:r>
              <a:rPr lang="en-IN" b="1">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Management</a:t>
            </a:r>
            <a:r>
              <a:rPr lang="en-IN">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 Maintains the nodes for the service.</a:t>
            </a:r>
            <a:endParaRPr lang="en-IN">
              <a:effectLst/>
              <a:latin typeface="Times New Roman" panose="02020603050405020304" pitchFamily="18" charset="0"/>
              <a:ea typeface="Times New Roman" panose="02020603050405020304" pitchFamily="18" charset="0"/>
            </a:endParaRPr>
          </a:p>
          <a:p>
            <a:pPr algn="l"/>
            <a:r>
              <a:rPr lang="en-IN">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 </a:t>
            </a:r>
            <a:r>
              <a:rPr lang="en-IN" b="1">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Identity Provider</a:t>
            </a:r>
            <a:r>
              <a:rPr lang="en-IN">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 Manages the identity information and provides authentication services within a distributed network.</a:t>
            </a:r>
            <a:endParaRPr lang="en-IN">
              <a:effectLst/>
              <a:latin typeface="Times New Roman" panose="02020603050405020304" pitchFamily="18" charset="0"/>
              <a:ea typeface="Times New Roman" panose="02020603050405020304" pitchFamily="18" charset="0"/>
            </a:endParaRPr>
          </a:p>
          <a:p>
            <a:pPr algn="l"/>
            <a:r>
              <a:rPr lang="en-IN">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 </a:t>
            </a:r>
            <a:r>
              <a:rPr lang="en-IN" b="1">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Service Discovery</a:t>
            </a:r>
            <a:r>
              <a:rPr lang="en-IN">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 Keeps track of services and service addresses and endpoints.</a:t>
            </a:r>
            <a:endParaRPr lang="en-IN">
              <a:effectLst/>
              <a:latin typeface="Times New Roman" panose="02020603050405020304" pitchFamily="18" charset="0"/>
              <a:ea typeface="Times New Roman" panose="02020603050405020304" pitchFamily="18" charset="0"/>
            </a:endParaRPr>
          </a:p>
          <a:p>
            <a:pPr algn="l"/>
            <a:r>
              <a:rPr lang="en-IN">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 </a:t>
            </a:r>
            <a:r>
              <a:rPr lang="en-IN" b="1">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API Gateway</a:t>
            </a:r>
            <a:r>
              <a:rPr lang="en-IN">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 Serves as client’s entry point. Single point of contact from the client which in turn returns responses from underlying microservices and sometimes an aggregated response from multiple underlying microservices. Ocelot</a:t>
            </a:r>
            <a:endParaRPr lang="en-IN">
              <a:effectLst/>
              <a:latin typeface="Times New Roman" panose="02020603050405020304" pitchFamily="18" charset="0"/>
              <a:ea typeface="Times New Roman" panose="02020603050405020304" pitchFamily="18" charset="0"/>
            </a:endParaRPr>
          </a:p>
          <a:p>
            <a:pPr algn="l"/>
            <a:r>
              <a:rPr lang="en-IN">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 </a:t>
            </a:r>
            <a:r>
              <a:rPr lang="en-IN" b="1">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CDN</a:t>
            </a:r>
            <a:r>
              <a:rPr lang="en-IN">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 A content delivery network to serve static resources for e.g. pages and web content in a distributed network</a:t>
            </a:r>
            <a:endParaRPr lang="en-IN">
              <a:effectLst/>
              <a:latin typeface="Times New Roman" panose="02020603050405020304" pitchFamily="18" charset="0"/>
              <a:ea typeface="Times New Roman" panose="02020603050405020304" pitchFamily="18" charset="0"/>
            </a:endParaRPr>
          </a:p>
          <a:p>
            <a:pPr algn="l"/>
            <a:r>
              <a:rPr lang="en-IN">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 </a:t>
            </a:r>
            <a:r>
              <a:rPr lang="en-IN" b="1">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Static Content </a:t>
            </a:r>
            <a:r>
              <a:rPr lang="en-IN">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The static resources like pages and web content</a:t>
            </a:r>
            <a:endParaRPr lang="en-IN">
              <a:effectLst/>
              <a:latin typeface="Times New Roman" panose="02020603050405020304" pitchFamily="18" charset="0"/>
              <a:ea typeface="Times New Roman" panose="02020603050405020304" pitchFamily="18" charset="0"/>
            </a:endParaRPr>
          </a:p>
          <a:p>
            <a:pPr algn="l" fontAlgn="base"/>
            <a:endParaRPr lang="en-IN"/>
          </a:p>
        </p:txBody>
      </p:sp>
    </p:spTree>
    <p:extLst>
      <p:ext uri="{BB962C8B-B14F-4D97-AF65-F5344CB8AC3E}">
        <p14:creationId xmlns:p14="http://schemas.microsoft.com/office/powerpoint/2010/main" val="154710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066800"/>
            <a:ext cx="86868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4000" b="1" kern="0">
                <a:solidFill>
                  <a:srgbClr val="000000"/>
                </a:solidFill>
                <a:effectLst/>
                <a:latin typeface="Open Sans" panose="020B0606030504020204" pitchFamily="34" charset="0"/>
                <a:ea typeface="Times New Roman" panose="02020603050405020304" pitchFamily="18" charset="0"/>
              </a:rPr>
              <a:t>Microservices Principles</a:t>
            </a:r>
            <a:endParaRPr lang="en-IN" sz="40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1775968"/>
            <a:ext cx="9144000" cy="4551680"/>
          </a:xfrm>
        </p:spPr>
        <p:txBody>
          <a:bodyPr>
            <a:normAutofit fontScale="92500"/>
          </a:bodyPr>
          <a:lstStyle/>
          <a:p>
            <a:pPr algn="l" fontAlgn="base"/>
            <a:r>
              <a:rPr lang="en-US" dirty="0">
                <a:solidFill>
                  <a:srgbClr val="000000"/>
                </a:solidFill>
                <a:latin typeface="Source Sans Pro" panose="020B0503030403020204" pitchFamily="34" charset="0"/>
              </a:rPr>
              <a:t>1.  </a:t>
            </a:r>
            <a:r>
              <a:rPr lang="en-US" b="1" dirty="0">
                <a:solidFill>
                  <a:srgbClr val="000000"/>
                </a:solidFill>
                <a:latin typeface="Source Sans Pro" panose="020B0503030403020204" pitchFamily="34" charset="0"/>
              </a:rPr>
              <a:t>Single Responsibility principle </a:t>
            </a:r>
            <a:r>
              <a:rPr lang="en-US" dirty="0">
                <a:solidFill>
                  <a:srgbClr val="000000"/>
                </a:solidFill>
                <a:latin typeface="Source Sans Pro" panose="020B0503030403020204" pitchFamily="34" charset="0"/>
              </a:rPr>
              <a:t>- It states that any class or module in microservices should have a single responsibility. Having multiple responsibilities lead to tight coupling and result in fragile designs that are hard to evolve and can break into unexpected ways upon changing.</a:t>
            </a:r>
          </a:p>
          <a:p>
            <a:pPr algn="l" fontAlgn="base"/>
            <a:r>
              <a:rPr lang="en-US" dirty="0">
                <a:solidFill>
                  <a:srgbClr val="000000"/>
                </a:solidFill>
                <a:latin typeface="Source Sans Pro" panose="020B0503030403020204" pitchFamily="34" charset="0"/>
              </a:rPr>
              <a:t>2. </a:t>
            </a:r>
            <a:r>
              <a:rPr lang="en-US" b="1" dirty="0">
                <a:solidFill>
                  <a:srgbClr val="000000"/>
                </a:solidFill>
                <a:latin typeface="Source Sans Pro" panose="020B0503030403020204" pitchFamily="34" charset="0"/>
              </a:rPr>
              <a:t>Loose Coupling </a:t>
            </a:r>
            <a:r>
              <a:rPr lang="en-US" dirty="0">
                <a:solidFill>
                  <a:srgbClr val="000000"/>
                </a:solidFill>
                <a:latin typeface="Source Sans Pro" panose="020B0503030403020204" pitchFamily="34" charset="0"/>
              </a:rPr>
              <a:t>- Dependencies between services are minimized through loose coupling.</a:t>
            </a:r>
          </a:p>
          <a:p>
            <a:pPr algn="l" fontAlgn="base"/>
            <a:r>
              <a:rPr lang="en-US" b="1" dirty="0">
                <a:solidFill>
                  <a:srgbClr val="000000"/>
                </a:solidFill>
                <a:latin typeface="Source Sans Pro" panose="020B0503030403020204" pitchFamily="34" charset="0"/>
              </a:rPr>
              <a:t>3. Fault Tolerance </a:t>
            </a:r>
            <a:r>
              <a:rPr lang="en-US" dirty="0">
                <a:solidFill>
                  <a:srgbClr val="000000"/>
                </a:solidFill>
                <a:latin typeface="Source Sans Pro" panose="020B0503030403020204" pitchFamily="34" charset="0"/>
              </a:rPr>
              <a:t>- Microservices will be necessarily built fault-tolerant so that failures on the side of its collaborating services will have less impact on its own SLA. </a:t>
            </a:r>
          </a:p>
          <a:p>
            <a:pPr algn="l" fontAlgn="base"/>
            <a:r>
              <a:rPr lang="en-US" b="1" dirty="0">
                <a:solidFill>
                  <a:srgbClr val="000000"/>
                </a:solidFill>
                <a:latin typeface="Source Sans Pro" panose="020B0503030403020204" pitchFamily="34" charset="0"/>
              </a:rPr>
              <a:t>4. Infrastructure automation - </a:t>
            </a:r>
            <a:r>
              <a:rPr lang="en-US" dirty="0">
                <a:solidFill>
                  <a:srgbClr val="000000"/>
                </a:solidFill>
                <a:latin typeface="Source Sans Pro" panose="020B0503030403020204" pitchFamily="34" charset="0"/>
              </a:rPr>
              <a:t>In the microservice approach, each service is built by embedding all dependencies and  running as standalone.</a:t>
            </a:r>
          </a:p>
          <a:p>
            <a:pPr algn="l" fontAlgn="base"/>
            <a:r>
              <a:rPr lang="en-US" b="1" dirty="0">
                <a:solidFill>
                  <a:srgbClr val="000000"/>
                </a:solidFill>
                <a:latin typeface="Source Sans Pro" panose="020B0503030403020204" pitchFamily="34" charset="0"/>
              </a:rPr>
              <a:t>5.Deployment - </a:t>
            </a:r>
            <a:r>
              <a:rPr lang="en-US" dirty="0">
                <a:solidFill>
                  <a:srgbClr val="000000"/>
                </a:solidFill>
                <a:latin typeface="Source Sans Pro" panose="020B0503030403020204" pitchFamily="34" charset="0"/>
              </a:rPr>
              <a:t>Microservices are platform agnostic. It implies the services are designed and deployed independently without affecting others.</a:t>
            </a:r>
          </a:p>
          <a:p>
            <a:pPr algn="l" fontAlgn="base"/>
            <a:endParaRPr lang="en-US" dirty="0">
              <a:solidFill>
                <a:srgbClr val="000000"/>
              </a:solidFill>
              <a:latin typeface="Source Sans Pro" panose="020B0503030403020204" pitchFamily="34" charset="0"/>
            </a:endParaRPr>
          </a:p>
          <a:p>
            <a:pPr algn="l" fontAlgn="base"/>
            <a:endParaRPr lang="en-US" b="0" i="0" dirty="0">
              <a:solidFill>
                <a:srgbClr val="000000"/>
              </a:solidFill>
              <a:effectLst/>
              <a:latin typeface="Source Sans Pro" panose="020B0503030403020204" pitchFamily="34" charset="0"/>
            </a:endParaRPr>
          </a:p>
          <a:p>
            <a:pPr algn="l" fontAlgn="base"/>
            <a:endParaRPr lang="en-IN" dirty="0"/>
          </a:p>
        </p:txBody>
      </p:sp>
    </p:spTree>
    <p:extLst>
      <p:ext uri="{BB962C8B-B14F-4D97-AF65-F5344CB8AC3E}">
        <p14:creationId xmlns:p14="http://schemas.microsoft.com/office/powerpoint/2010/main" val="2833484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10902-DB8F-CD6B-9D58-E4F5977395F7}"/>
              </a:ext>
            </a:extLst>
          </p:cNvPr>
          <p:cNvSpPr>
            <a:spLocks noGrp="1"/>
          </p:cNvSpPr>
          <p:nvPr>
            <p:ph type="title"/>
          </p:nvPr>
        </p:nvSpPr>
        <p:spPr/>
        <p:txBody>
          <a:bodyPr/>
          <a:lstStyle/>
          <a:p>
            <a:r>
              <a:rPr lang="en-US"/>
              <a:t>Why should design pattern</a:t>
            </a:r>
            <a:endParaRPr lang="en-IN"/>
          </a:p>
        </p:txBody>
      </p:sp>
      <p:sp>
        <p:nvSpPr>
          <p:cNvPr id="3" name="Content Placeholder 2">
            <a:extLst>
              <a:ext uri="{FF2B5EF4-FFF2-40B4-BE49-F238E27FC236}">
                <a16:creationId xmlns:a16="http://schemas.microsoft.com/office/drawing/2014/main" id="{C5239F0B-E50D-81E0-8A70-A13F5818DE1B}"/>
              </a:ext>
            </a:extLst>
          </p:cNvPr>
          <p:cNvSpPr>
            <a:spLocks noGrp="1"/>
          </p:cNvSpPr>
          <p:nvPr>
            <p:ph idx="1"/>
          </p:nvPr>
        </p:nvSpPr>
        <p:spPr/>
        <p:txBody>
          <a:bodyPr/>
          <a:lstStyle/>
          <a:p>
            <a:pPr marL="0" indent="0" algn="l">
              <a:buNone/>
            </a:pPr>
            <a:r>
              <a:rPr lang="en-US" b="1" i="0">
                <a:effectLst/>
                <a:latin typeface="PT Sans" panose="020F0502020204030204" pitchFamily="34" charset="0"/>
              </a:rPr>
              <a:t>Why should we follow an design pattern?</a:t>
            </a:r>
          </a:p>
          <a:p>
            <a:pPr marL="0" indent="0" algn="l">
              <a:buNone/>
            </a:pPr>
            <a:r>
              <a:rPr lang="en-US" b="0" i="0">
                <a:solidFill>
                  <a:srgbClr val="303030"/>
                </a:solidFill>
                <a:effectLst/>
                <a:latin typeface="PT Sans" panose="020F0502020204030204" pitchFamily="34" charset="0"/>
              </a:rPr>
              <a:t>Every project’s software development life cycle has 2 opposing forces, </a:t>
            </a:r>
            <a:r>
              <a:rPr lang="en-US" b="1" i="0">
                <a:solidFill>
                  <a:srgbClr val="303030"/>
                </a:solidFill>
                <a:effectLst/>
                <a:latin typeface="PT Sans" panose="020F0502020204030204" pitchFamily="34" charset="0"/>
              </a:rPr>
              <a:t>the force of doing things</a:t>
            </a:r>
            <a:r>
              <a:rPr lang="en-US" b="0" i="0">
                <a:solidFill>
                  <a:srgbClr val="303030"/>
                </a:solidFill>
                <a:effectLst/>
                <a:latin typeface="PT Sans" panose="020F0502020204030204" pitchFamily="34" charset="0"/>
              </a:rPr>
              <a:t> and </a:t>
            </a:r>
            <a:r>
              <a:rPr lang="en-US" b="1" i="0">
                <a:solidFill>
                  <a:srgbClr val="303030"/>
                </a:solidFill>
                <a:effectLst/>
                <a:latin typeface="PT Sans" panose="020F0502020204030204" pitchFamily="34" charset="0"/>
              </a:rPr>
              <a:t>the force of doing things right</a:t>
            </a:r>
            <a:r>
              <a:rPr lang="en-US" b="0" i="0">
                <a:solidFill>
                  <a:srgbClr val="303030"/>
                </a:solidFill>
                <a:effectLst/>
                <a:latin typeface="PT Sans" panose="020F0502020204030204" pitchFamily="34" charset="0"/>
              </a:rPr>
              <a:t>.</a:t>
            </a:r>
          </a:p>
          <a:p>
            <a:pPr marL="0" indent="0" algn="l">
              <a:buNone/>
            </a:pPr>
            <a:r>
              <a:rPr lang="en-US" b="0" i="0">
                <a:solidFill>
                  <a:srgbClr val="303030"/>
                </a:solidFill>
                <a:effectLst/>
                <a:latin typeface="PT Sans" panose="020B0503020203020204" pitchFamily="34" charset="0"/>
              </a:rPr>
              <a:t>By not following a tried and tested architecture pattern and just trying to get a tangible output asap always leads to rework.</a:t>
            </a:r>
            <a:endParaRPr lang="en-US" b="0" i="0">
              <a:solidFill>
                <a:srgbClr val="303030"/>
              </a:solidFill>
              <a:effectLst/>
              <a:latin typeface="PT Sans" panose="020F0502020204030204" pitchFamily="34" charset="0"/>
            </a:endParaRPr>
          </a:p>
          <a:p>
            <a:endParaRPr lang="en-IN"/>
          </a:p>
        </p:txBody>
      </p:sp>
    </p:spTree>
    <p:extLst>
      <p:ext uri="{BB962C8B-B14F-4D97-AF65-F5344CB8AC3E}">
        <p14:creationId xmlns:p14="http://schemas.microsoft.com/office/powerpoint/2010/main" val="317849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066800"/>
            <a:ext cx="86868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4400" b="1" i="0">
                <a:effectLst/>
                <a:latin typeface="Montserrat" panose="00000500000000000000" pitchFamily="2" charset="0"/>
              </a:rPr>
              <a:t>Design Pattern in Microservice</a:t>
            </a:r>
            <a:endParaRPr lang="en-IN" sz="44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032000"/>
            <a:ext cx="9144000" cy="4551680"/>
          </a:xfrm>
        </p:spPr>
        <p:txBody>
          <a:bodyPr vert="horz" lIns="91440" tIns="45720" rIns="91440" bIns="45720" rtlCol="0" anchor="t">
            <a:normAutofit fontScale="92500" lnSpcReduction="10000"/>
          </a:bodyPr>
          <a:lstStyle/>
          <a:p>
            <a:pPr algn="l" fontAlgn="base"/>
            <a:r>
              <a:rPr lang="en-US"/>
              <a:t>Following are the popular microservices tools used for various functionalities:</a:t>
            </a:r>
          </a:p>
          <a:p>
            <a:pPr marL="342900" indent="-342900" algn="l" fontAlgn="base">
              <a:buFont typeface="Wingdings" panose="05000000000000000000" pitchFamily="2" charset="2"/>
              <a:buChar char="Ø"/>
            </a:pPr>
            <a:r>
              <a:rPr lang="en-US"/>
              <a:t>Aggregator</a:t>
            </a:r>
          </a:p>
          <a:p>
            <a:pPr marL="342900" indent="-342900" algn="l" fontAlgn="base">
              <a:buFont typeface="Wingdings" panose="05000000000000000000" pitchFamily="2" charset="2"/>
              <a:buChar char="Ø"/>
            </a:pPr>
            <a:r>
              <a:rPr lang="en-US"/>
              <a:t>API Gateway</a:t>
            </a:r>
          </a:p>
          <a:p>
            <a:pPr marL="342900" indent="-342900" algn="l" fontAlgn="base">
              <a:buFont typeface="Wingdings" panose="05000000000000000000" pitchFamily="2" charset="2"/>
              <a:buChar char="Ø"/>
            </a:pPr>
            <a:r>
              <a:rPr lang="en-US"/>
              <a:t>Chained or Chain of Responsibility</a:t>
            </a:r>
          </a:p>
          <a:p>
            <a:pPr marL="342900" indent="-342900" algn="l" fontAlgn="base">
              <a:buFont typeface="Wingdings" panose="05000000000000000000" pitchFamily="2" charset="2"/>
              <a:buChar char="Ø"/>
            </a:pPr>
            <a:r>
              <a:rPr lang="en-US"/>
              <a:t>Asynchronous Messaging</a:t>
            </a:r>
          </a:p>
          <a:p>
            <a:pPr marL="342900" indent="-342900" algn="l" fontAlgn="base">
              <a:buFont typeface="Wingdings" panose="05000000000000000000" pitchFamily="2" charset="2"/>
              <a:buChar char="Ø"/>
            </a:pPr>
            <a:r>
              <a:rPr lang="en-US"/>
              <a:t>Database or Shared Data</a:t>
            </a:r>
          </a:p>
          <a:p>
            <a:pPr marL="342900" indent="-342900" algn="l" fontAlgn="base">
              <a:buFont typeface="Wingdings" panose="05000000000000000000" pitchFamily="2" charset="2"/>
              <a:buChar char="Ø"/>
            </a:pPr>
            <a:r>
              <a:rPr lang="en-US"/>
              <a:t>Event Sourcing</a:t>
            </a:r>
          </a:p>
          <a:p>
            <a:pPr marL="342900" indent="-342900" algn="l" fontAlgn="base">
              <a:buFont typeface="Wingdings" panose="05000000000000000000" pitchFamily="2" charset="2"/>
              <a:buChar char="Ø"/>
            </a:pPr>
            <a:r>
              <a:rPr lang="en-US"/>
              <a:t>Decompose by Business Capability</a:t>
            </a:r>
          </a:p>
          <a:p>
            <a:pPr marL="342900" indent="-342900" algn="l" fontAlgn="base">
              <a:buFont typeface="Wingdings" panose="05000000000000000000" pitchFamily="2" charset="2"/>
              <a:buChar char="Ø"/>
            </a:pPr>
            <a:r>
              <a:rPr lang="en-US" err="1"/>
              <a:t>Stranglar</a:t>
            </a:r>
            <a:r>
              <a:rPr lang="en-US"/>
              <a:t> design pattern</a:t>
            </a:r>
            <a:endParaRPr lang="en-IN"/>
          </a:p>
          <a:p>
            <a:pPr marL="342900" indent="-342900" algn="l" fontAlgn="base">
              <a:buFont typeface="Wingdings" panose="05000000000000000000" pitchFamily="2" charset="2"/>
              <a:buChar char="Ø"/>
            </a:pPr>
            <a:r>
              <a:rPr lang="en-US"/>
              <a:t>Command Query Responsibility Segregator</a:t>
            </a:r>
          </a:p>
          <a:p>
            <a:pPr marL="342900" indent="-342900" algn="l" fontAlgn="base">
              <a:buFont typeface="Wingdings" panose="05000000000000000000" pitchFamily="2" charset="2"/>
              <a:buChar char="Ø"/>
            </a:pPr>
            <a:r>
              <a:rPr lang="en-US"/>
              <a:t>Circuit Breaker/ Three times Retry Polly</a:t>
            </a:r>
          </a:p>
        </p:txBody>
      </p:sp>
    </p:spTree>
    <p:extLst>
      <p:ext uri="{BB962C8B-B14F-4D97-AF65-F5344CB8AC3E}">
        <p14:creationId xmlns:p14="http://schemas.microsoft.com/office/powerpoint/2010/main" val="301146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066800"/>
            <a:ext cx="86868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4400" b="1" i="0">
                <a:effectLst/>
                <a:latin typeface="Montserrat" panose="00000500000000000000" pitchFamily="2" charset="0"/>
              </a:rPr>
              <a:t>Microservices Tools</a:t>
            </a:r>
            <a:endParaRPr lang="en-IN" sz="44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032000"/>
            <a:ext cx="9144000" cy="4551680"/>
          </a:xfrm>
        </p:spPr>
        <p:txBody>
          <a:bodyPr>
            <a:normAutofit fontScale="85000" lnSpcReduction="10000"/>
          </a:bodyPr>
          <a:lstStyle/>
          <a:p>
            <a:pPr algn="l" fontAlgn="base"/>
            <a:r>
              <a:rPr lang="en-US"/>
              <a:t>1. </a:t>
            </a:r>
            <a:r>
              <a:rPr lang="en-US" b="1"/>
              <a:t>Docker-</a:t>
            </a:r>
            <a:r>
              <a:rPr lang="en-US"/>
              <a:t> An open-source tool that allows building and deploying apps using containers. </a:t>
            </a:r>
          </a:p>
          <a:p>
            <a:pPr algn="l" fontAlgn="base"/>
            <a:r>
              <a:rPr lang="en-US"/>
              <a:t>2. </a:t>
            </a:r>
            <a:r>
              <a:rPr lang="en-US" b="1" err="1"/>
              <a:t>Hystrix</a:t>
            </a:r>
            <a:r>
              <a:rPr lang="en-US"/>
              <a:t> - </a:t>
            </a:r>
            <a:r>
              <a:rPr lang="en-US" err="1"/>
              <a:t>Hystrix</a:t>
            </a:r>
            <a:r>
              <a:rPr lang="en-US"/>
              <a:t> is a fault tolerance library developed to isolate access points to remote systems, services, and 3rd party libraries.</a:t>
            </a:r>
          </a:p>
          <a:p>
            <a:pPr algn="l" fontAlgn="base"/>
            <a:r>
              <a:rPr lang="en-US"/>
              <a:t>3. </a:t>
            </a:r>
            <a:r>
              <a:rPr lang="en-US" b="1"/>
              <a:t>AWS Lambda </a:t>
            </a:r>
            <a:r>
              <a:rPr lang="en-US"/>
              <a:t>- This AWS </a:t>
            </a:r>
            <a:r>
              <a:rPr lang="en-US" err="1"/>
              <a:t>Lamda</a:t>
            </a:r>
            <a:r>
              <a:rPr lang="en-US"/>
              <a:t> tool supports infrastructure-less servers for microservices builds and users charged on the pay-per-use rate. Mostly, we use   this tool for hosting REST or API services in combination with the AWS API gateway.</a:t>
            </a:r>
          </a:p>
          <a:p>
            <a:pPr algn="l" fontAlgn="base"/>
            <a:r>
              <a:rPr lang="en-US"/>
              <a:t>4. </a:t>
            </a:r>
            <a:r>
              <a:rPr lang="en-US" b="1"/>
              <a:t>Prometheus</a:t>
            </a:r>
            <a:r>
              <a:rPr lang="en-US"/>
              <a:t> - Prometheus - is a monitoring tool used to detect the strange patterns of Microservices.</a:t>
            </a:r>
          </a:p>
          <a:p>
            <a:pPr algn="l" fontAlgn="base"/>
            <a:r>
              <a:rPr lang="en-US"/>
              <a:t>5. </a:t>
            </a:r>
            <a:r>
              <a:rPr lang="en-US" b="1"/>
              <a:t>Logstash</a:t>
            </a:r>
            <a:r>
              <a:rPr lang="en-US"/>
              <a:t> - Logstash is an open-source tool used for checking the logs. It allows you to stash, centralize, and transform data of microservices.</a:t>
            </a:r>
          </a:p>
          <a:p>
            <a:pPr algn="l" fontAlgn="base"/>
            <a:r>
              <a:rPr lang="en-US"/>
              <a:t>6. </a:t>
            </a:r>
            <a:r>
              <a:rPr lang="en-US" b="1"/>
              <a:t>RabbitMQ</a:t>
            </a:r>
            <a:r>
              <a:rPr lang="en-US"/>
              <a:t> - This tool employs patterns to interact between microservices and also scales the application simultaneously. </a:t>
            </a:r>
          </a:p>
          <a:p>
            <a:pPr algn="l" fontAlgn="base"/>
            <a:r>
              <a:rPr lang="en-US"/>
              <a:t>7. </a:t>
            </a:r>
            <a:r>
              <a:rPr lang="en-US" b="1"/>
              <a:t>Apache Kafka </a:t>
            </a:r>
            <a:r>
              <a:rPr lang="en-US"/>
              <a:t>- Apache Kafka is a distributed stream processing platform used for data processing or API calls.</a:t>
            </a:r>
            <a:endParaRPr lang="en-IN"/>
          </a:p>
        </p:txBody>
      </p:sp>
    </p:spTree>
    <p:extLst>
      <p:ext uri="{BB962C8B-B14F-4D97-AF65-F5344CB8AC3E}">
        <p14:creationId xmlns:p14="http://schemas.microsoft.com/office/powerpoint/2010/main" val="2994558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066800"/>
            <a:ext cx="86868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4400" b="1" i="0">
                <a:effectLst/>
                <a:latin typeface="Montserrat" panose="00000500000000000000" pitchFamily="2" charset="0"/>
              </a:rPr>
              <a:t>Aggregator Design Pattern</a:t>
            </a:r>
            <a:endParaRPr lang="en-IN" sz="44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032000"/>
            <a:ext cx="9093200" cy="4693920"/>
          </a:xfrm>
        </p:spPr>
        <p:txBody>
          <a:bodyPr>
            <a:normAutofit/>
          </a:bodyPr>
          <a:lstStyle/>
          <a:p>
            <a:pPr algn="l" fontAlgn="base"/>
            <a:r>
              <a:rPr lang="en-US" dirty="0">
                <a:solidFill>
                  <a:srgbClr val="242424"/>
                </a:solidFill>
                <a:latin typeface="source-serif-pro"/>
              </a:rPr>
              <a:t>I</a:t>
            </a:r>
            <a:r>
              <a:rPr lang="en-US" b="0" i="0" dirty="0">
                <a:solidFill>
                  <a:srgbClr val="242424"/>
                </a:solidFill>
                <a:effectLst/>
                <a:latin typeface="source-serif-pro"/>
              </a:rPr>
              <a:t>n microservices the Aggregator Design Pattern is a service that receives a request, then makes requests of multiple services, combines the results and responds to the initiating request.</a:t>
            </a:r>
          </a:p>
          <a:p>
            <a:pPr algn="l" fontAlgn="base"/>
            <a:endParaRPr lang="en-IN" dirty="0"/>
          </a:p>
        </p:txBody>
      </p:sp>
      <p:pic>
        <p:nvPicPr>
          <p:cNvPr id="5" name="Picture 4">
            <a:extLst>
              <a:ext uri="{FF2B5EF4-FFF2-40B4-BE49-F238E27FC236}">
                <a16:creationId xmlns:a16="http://schemas.microsoft.com/office/drawing/2014/main" id="{9F603D88-AE16-EAD9-2CA3-84018BE3AA36}"/>
              </a:ext>
            </a:extLst>
          </p:cNvPr>
          <p:cNvPicPr>
            <a:picLocks noChangeAspect="1"/>
          </p:cNvPicPr>
          <p:nvPr/>
        </p:nvPicPr>
        <p:blipFill>
          <a:blip r:embed="rId2"/>
          <a:stretch>
            <a:fillRect/>
          </a:stretch>
        </p:blipFill>
        <p:spPr>
          <a:xfrm>
            <a:off x="1981638" y="3038389"/>
            <a:ext cx="7639443" cy="3321221"/>
          </a:xfrm>
          <a:prstGeom prst="rect">
            <a:avLst/>
          </a:prstGeom>
        </p:spPr>
      </p:pic>
    </p:spTree>
    <p:extLst>
      <p:ext uri="{BB962C8B-B14F-4D97-AF65-F5344CB8AC3E}">
        <p14:creationId xmlns:p14="http://schemas.microsoft.com/office/powerpoint/2010/main" val="2213776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330960" y="1066800"/>
            <a:ext cx="8686800" cy="609600"/>
          </a:xfrm>
        </p:spPr>
        <p:txBody>
          <a:bodyPr>
            <a:normAutofit fontScale="90000"/>
          </a:bodyPr>
          <a:lstStyle/>
          <a:p>
            <a:br>
              <a:rPr lang="en-US" b="1" i="0" dirty="0">
                <a:effectLst/>
                <a:latin typeface="Montserrat" panose="020B0604020202020204" pitchFamily="2" charset="0"/>
              </a:rPr>
            </a:br>
            <a:br>
              <a:rPr lang="en-IN" sz="1200" b="1" i="0" dirty="0">
                <a:effectLst/>
                <a:latin typeface="Montserrat" panose="00000500000000000000" pitchFamily="2" charset="0"/>
              </a:rPr>
            </a:br>
            <a:r>
              <a:rPr lang="en-IN" sz="4400" b="1" i="0" dirty="0">
                <a:effectLst/>
                <a:latin typeface="Montserrat" panose="00000500000000000000" pitchFamily="2" charset="0"/>
              </a:rPr>
              <a:t>Aggregator Design Pattern</a:t>
            </a:r>
            <a:endParaRPr lang="en-IN" sz="4400" dirty="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032000"/>
            <a:ext cx="9093200" cy="4693920"/>
          </a:xfrm>
        </p:spPr>
        <p:txBody>
          <a:bodyPr>
            <a:normAutofit/>
          </a:bodyPr>
          <a:lstStyle/>
          <a:p>
            <a:pPr algn="l" fontAlgn="base"/>
            <a:r>
              <a:rPr lang="en-US">
                <a:solidFill>
                  <a:srgbClr val="242424"/>
                </a:solidFill>
                <a:latin typeface="source-serif-pro"/>
              </a:rPr>
              <a:t>I</a:t>
            </a:r>
            <a:r>
              <a:rPr lang="en-US" b="0" i="0">
                <a:solidFill>
                  <a:srgbClr val="242424"/>
                </a:solidFill>
                <a:effectLst/>
                <a:latin typeface="source-serif-pro"/>
              </a:rPr>
              <a:t>n microservices the Aggregator Design Pattern is a service that receives a request, then makes requests of multiple services, combines the results and responds to the initiating request.</a:t>
            </a:r>
          </a:p>
          <a:p>
            <a:pPr algn="l" fontAlgn="base"/>
            <a:r>
              <a:rPr lang="en-US" b="1">
                <a:solidFill>
                  <a:srgbClr val="242424"/>
                </a:solidFill>
                <a:latin typeface="source-serif-pro"/>
              </a:rPr>
              <a:t>Student Management System</a:t>
            </a:r>
          </a:p>
          <a:p>
            <a:pPr algn="l"/>
            <a:r>
              <a:rPr lang="en-US" b="0" i="0">
                <a:solidFill>
                  <a:srgbClr val="242424"/>
                </a:solidFill>
                <a:effectLst/>
                <a:latin typeface="source-serif-pro"/>
              </a:rPr>
              <a:t>1. A service to get Student Information</a:t>
            </a:r>
          </a:p>
          <a:p>
            <a:pPr algn="l"/>
            <a:r>
              <a:rPr lang="en-US" b="0" i="0">
                <a:solidFill>
                  <a:srgbClr val="242424"/>
                </a:solidFill>
                <a:effectLst/>
                <a:latin typeface="source-serif-pro"/>
              </a:rPr>
              <a:t>2. A service to get Marks &amp; its related Information</a:t>
            </a:r>
          </a:p>
          <a:p>
            <a:pPr algn="l"/>
            <a:r>
              <a:rPr lang="en-US" b="0" i="0">
                <a:solidFill>
                  <a:srgbClr val="242424"/>
                </a:solidFill>
                <a:effectLst/>
                <a:latin typeface="source-serif-pro"/>
              </a:rPr>
              <a:t>3. A service to get Membership Information</a:t>
            </a:r>
          </a:p>
          <a:p>
            <a:pPr algn="l"/>
            <a:r>
              <a:rPr lang="en-US" b="0" i="0">
                <a:solidFill>
                  <a:srgbClr val="242424"/>
                </a:solidFill>
                <a:effectLst/>
                <a:latin typeface="source-serif-pro"/>
              </a:rPr>
              <a:t>4. A service to get Achievements Information</a:t>
            </a:r>
          </a:p>
          <a:p>
            <a:pPr algn="l" fontAlgn="base"/>
            <a:endParaRPr lang="en-US" b="0" i="0">
              <a:solidFill>
                <a:srgbClr val="242424"/>
              </a:solidFill>
              <a:effectLst/>
              <a:latin typeface="source-serif-pro"/>
            </a:endParaRPr>
          </a:p>
          <a:p>
            <a:pPr algn="l" fontAlgn="base"/>
            <a:endParaRPr lang="en-IN"/>
          </a:p>
        </p:txBody>
      </p:sp>
    </p:spTree>
    <p:extLst>
      <p:ext uri="{BB962C8B-B14F-4D97-AF65-F5344CB8AC3E}">
        <p14:creationId xmlns:p14="http://schemas.microsoft.com/office/powerpoint/2010/main" val="4014066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137920" y="1066800"/>
            <a:ext cx="92456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3100" b="1" i="0">
                <a:effectLst/>
                <a:latin typeface="Montserrat" panose="00000500000000000000" pitchFamily="2" charset="0"/>
              </a:rPr>
              <a:t>Decompose by business capability pattern</a:t>
            </a:r>
            <a:endParaRPr lang="en-IN" sz="31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032000"/>
            <a:ext cx="9144000" cy="4551680"/>
          </a:xfrm>
        </p:spPr>
        <p:txBody>
          <a:bodyPr>
            <a:normAutofit/>
          </a:bodyPr>
          <a:lstStyle/>
          <a:p>
            <a:pPr algn="l" fontAlgn="base"/>
            <a:r>
              <a:rPr lang="en-IN">
                <a:hlinkClick r:id="rId2"/>
              </a:rPr>
              <a:t>Microservice Architecture Patterns Part 1: Decomposition Patterns | </a:t>
            </a:r>
            <a:r>
              <a:rPr lang="en-IN" err="1">
                <a:hlinkClick r:id="rId2"/>
              </a:rPr>
              <a:t>HackerNoon</a:t>
            </a:r>
            <a:endParaRPr lang="en-IN"/>
          </a:p>
          <a:p>
            <a:pPr algn="l" fontAlgn="base"/>
            <a:r>
              <a:rPr lang="en-US"/>
              <a:t>This approach is based on business capability decomposition, which aims to create microservices aligned with the business needs and can be developed and maintained independently. Business capabilities are the specific functions or processes that an organization performs to deliver value to its customers [3]. It is a high-level concept that describes what a business does rather than how it does it. For example, a banking application might have business capabilities for account management, transaction processing, and loan origination. </a:t>
            </a:r>
            <a:endParaRPr lang="en-IN"/>
          </a:p>
        </p:txBody>
      </p:sp>
    </p:spTree>
    <p:extLst>
      <p:ext uri="{BB962C8B-B14F-4D97-AF65-F5344CB8AC3E}">
        <p14:creationId xmlns:p14="http://schemas.microsoft.com/office/powerpoint/2010/main" val="675338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137920" y="1066800"/>
            <a:ext cx="92456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3100" b="1" i="0">
                <a:effectLst/>
                <a:latin typeface="Montserrat" panose="00000500000000000000" pitchFamily="2" charset="0"/>
              </a:rPr>
              <a:t>Decompose by business capability pattern</a:t>
            </a:r>
            <a:endParaRPr lang="en-IN" sz="31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88008" y="1676400"/>
            <a:ext cx="9144000" cy="4551680"/>
          </a:xfrm>
        </p:spPr>
        <p:txBody>
          <a:bodyPr>
            <a:normAutofit fontScale="92500" lnSpcReduction="20000"/>
          </a:bodyPr>
          <a:lstStyle/>
          <a:p>
            <a:pPr algn="l"/>
            <a:r>
              <a:rPr lang="en-US" b="1" i="0" dirty="0">
                <a:solidFill>
                  <a:srgbClr val="0070C0"/>
                </a:solidFill>
                <a:effectLst/>
                <a:latin typeface="IBM Plex Sans" panose="020B0503050203000203" pitchFamily="34" charset="0"/>
              </a:rPr>
              <a:t>Here are some situations in which business capability decomposition may be a good fit:</a:t>
            </a:r>
          </a:p>
          <a:p>
            <a:pPr algn="l"/>
            <a:r>
              <a:rPr lang="en-US" b="0" i="0" dirty="0">
                <a:effectLst/>
                <a:latin typeface="IBM Plex Sans" panose="020B0503050203000203" pitchFamily="34" charset="0"/>
              </a:rPr>
              <a:t>1. Your team has enough insight into your organization's business units, and you have subject matter experts (SMEs) for each business unit.</a:t>
            </a:r>
          </a:p>
          <a:p>
            <a:pPr algn="l"/>
            <a:r>
              <a:rPr lang="en-US" b="0" i="0" dirty="0">
                <a:effectLst/>
                <a:latin typeface="IBM Plex Sans" panose="020B0503050203000203" pitchFamily="34" charset="0"/>
              </a:rPr>
              <a:t>2. An application has a large number of interrelated functions or processes, or when those functions or processes are likely to change frequently. By breaking down the application into smaller, more focused services, development teams can iterate and experiment more quickly and easily and respond more effectively to changing business requirements and market conditions.</a:t>
            </a:r>
          </a:p>
          <a:p>
            <a:pPr algn="l"/>
            <a:r>
              <a:rPr lang="en-US" b="0" i="0" dirty="0">
                <a:effectLst/>
                <a:latin typeface="IBM Plex Sans" panose="020B0503050203000203" pitchFamily="34" charset="0"/>
              </a:rPr>
              <a:t>3. Suppose your organization has multiple business units or departments with distinct areas of functionality and workflows. In that case, business capability decomposition can help to align your application architecture with these capabilities, making it easier to develop and deploy new features and services.</a:t>
            </a:r>
          </a:p>
          <a:p>
            <a:pPr algn="l" fontAlgn="base"/>
            <a:endParaRPr lang="en-IN" dirty="0"/>
          </a:p>
        </p:txBody>
      </p:sp>
    </p:spTree>
    <p:extLst>
      <p:ext uri="{BB962C8B-B14F-4D97-AF65-F5344CB8AC3E}">
        <p14:creationId xmlns:p14="http://schemas.microsoft.com/office/powerpoint/2010/main" val="1533534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137920" y="1066800"/>
            <a:ext cx="92456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3100" b="1" i="0">
                <a:effectLst/>
                <a:latin typeface="Montserrat" panose="00000500000000000000" pitchFamily="2" charset="0"/>
              </a:rPr>
              <a:t>Decompose by business capability pattern</a:t>
            </a:r>
            <a:endParaRPr lang="en-IN" sz="31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032000"/>
            <a:ext cx="9144000" cy="4551680"/>
          </a:xfrm>
        </p:spPr>
        <p:txBody>
          <a:bodyPr>
            <a:normAutofit fontScale="92500"/>
          </a:bodyPr>
          <a:lstStyle/>
          <a:p>
            <a:pPr algn="l"/>
            <a:r>
              <a:rPr lang="en-US" b="1" i="0">
                <a:effectLst/>
                <a:latin typeface="IBM Plex Mono" panose="020F0502020204030204" pitchFamily="49" charset="0"/>
              </a:rPr>
              <a:t>Advantages</a:t>
            </a:r>
          </a:p>
          <a:p>
            <a:pPr algn="l"/>
            <a:r>
              <a:rPr lang="en-US" b="1" i="0">
                <a:effectLst/>
                <a:latin typeface="IBM Plex Sans" panose="020B0503050203000203" pitchFamily="34" charset="0"/>
              </a:rPr>
              <a:t>Business Alignment:</a:t>
            </a:r>
            <a:r>
              <a:rPr lang="en-US" b="0" i="0">
                <a:effectLst/>
                <a:latin typeface="IBM Plex Sans" panose="020B0503050203000203" pitchFamily="34" charset="0"/>
              </a:rPr>
              <a:t> By organizing microservices around business capabilities, aligning software development with business goals and objectives becomes easier. As a result, it also makes it easier to prioritize the most critical business capabilities are addressed first.</a:t>
            </a:r>
          </a:p>
          <a:p>
            <a:pPr algn="l"/>
            <a:r>
              <a:rPr lang="en-US" b="1" i="0">
                <a:effectLst/>
                <a:latin typeface="IBM Plex Sans" panose="020B0503050203000203" pitchFamily="34" charset="0"/>
              </a:rPr>
              <a:t>Cross-Functional Teams:</a:t>
            </a:r>
            <a:r>
              <a:rPr lang="en-US" b="0" i="0">
                <a:effectLst/>
                <a:latin typeface="IBM Plex Sans" panose="020B0503050203000203" pitchFamily="34" charset="0"/>
              </a:rPr>
              <a:t> This pattern encourages cross-functional teams that are focused on specific business capabilities. And this, in turn, can help break down business between different departments and ensure that everyone is working towards a common goal.</a:t>
            </a:r>
          </a:p>
          <a:p>
            <a:pPr algn="l"/>
            <a:r>
              <a:rPr lang="en-US" b="1" i="0">
                <a:effectLst/>
                <a:latin typeface="IBM Plex Sans" panose="020B0503050203000203" pitchFamily="34" charset="0"/>
              </a:rPr>
              <a:t>Improved User Experience:</a:t>
            </a:r>
            <a:r>
              <a:rPr lang="en-US" b="0" i="0">
                <a:effectLst/>
                <a:latin typeface="IBM Plex Sans" panose="020B0503050203000203" pitchFamily="34" charset="0"/>
              </a:rPr>
              <a:t> By focusing on specific business capabilities, microservices can be optimized for the particular needs of end-users. It can result in better user experiences and higher user satisfaction.</a:t>
            </a:r>
          </a:p>
        </p:txBody>
      </p:sp>
    </p:spTree>
    <p:extLst>
      <p:ext uri="{BB962C8B-B14F-4D97-AF65-F5344CB8AC3E}">
        <p14:creationId xmlns:p14="http://schemas.microsoft.com/office/powerpoint/2010/main" val="2433965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137920" y="1066800"/>
            <a:ext cx="92456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3100" b="1" i="0">
                <a:effectLst/>
                <a:latin typeface="Montserrat" panose="00000500000000000000" pitchFamily="2" charset="0"/>
              </a:rPr>
              <a:t>Decompose by business capability pattern</a:t>
            </a:r>
            <a:endParaRPr lang="en-IN" sz="3100"/>
          </a:p>
        </p:txBody>
      </p:sp>
      <p:pic>
        <p:nvPicPr>
          <p:cNvPr id="5" name="Picture 4">
            <a:extLst>
              <a:ext uri="{FF2B5EF4-FFF2-40B4-BE49-F238E27FC236}">
                <a16:creationId xmlns:a16="http://schemas.microsoft.com/office/drawing/2014/main" id="{505968A0-4E76-4E8B-7609-914B427AF387}"/>
              </a:ext>
            </a:extLst>
          </p:cNvPr>
          <p:cNvPicPr>
            <a:picLocks noChangeAspect="1"/>
          </p:cNvPicPr>
          <p:nvPr/>
        </p:nvPicPr>
        <p:blipFill>
          <a:blip r:embed="rId2"/>
          <a:stretch>
            <a:fillRect/>
          </a:stretch>
        </p:blipFill>
        <p:spPr>
          <a:xfrm>
            <a:off x="3094841" y="1952523"/>
            <a:ext cx="5778797" cy="3968954"/>
          </a:xfrm>
          <a:prstGeom prst="rect">
            <a:avLst/>
          </a:prstGeom>
        </p:spPr>
      </p:pic>
    </p:spTree>
    <p:extLst>
      <p:ext uri="{BB962C8B-B14F-4D97-AF65-F5344CB8AC3E}">
        <p14:creationId xmlns:p14="http://schemas.microsoft.com/office/powerpoint/2010/main" val="972425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137920" y="1066800"/>
            <a:ext cx="92456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3100" b="1" i="0">
                <a:effectLst/>
                <a:latin typeface="Montserrat" panose="00000500000000000000" pitchFamily="2" charset="0"/>
              </a:rPr>
              <a:t>Decompose by Transaction pattern</a:t>
            </a:r>
            <a:endParaRPr lang="en-IN" sz="31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032000"/>
            <a:ext cx="9144000" cy="4429760"/>
          </a:xfrm>
        </p:spPr>
        <p:txBody>
          <a:bodyPr>
            <a:normAutofit fontScale="92500" lnSpcReduction="10000"/>
          </a:bodyPr>
          <a:lstStyle/>
          <a:p>
            <a:pPr algn="l"/>
            <a:r>
              <a:rPr lang="en-US" b="0" i="0">
                <a:effectLst/>
                <a:latin typeface="IBM Plex Sans" panose="020B0503050203000203" pitchFamily="34" charset="0"/>
              </a:rPr>
              <a:t>One popular approach to decomposing microservices is through transaction decomposition, where the system is designed such that each particular transaction belongs to a separate microservice.</a:t>
            </a:r>
          </a:p>
          <a:p>
            <a:pPr algn="l"/>
            <a:r>
              <a:rPr lang="en-US" b="1" i="0">
                <a:effectLst/>
                <a:latin typeface="IBM Plex Mono" panose="020B0509050203000203" pitchFamily="49" charset="0"/>
              </a:rPr>
              <a:t>This Pattern Is Better to Use If:</a:t>
            </a:r>
          </a:p>
          <a:p>
            <a:pPr algn="l"/>
            <a:r>
              <a:rPr lang="en-US" b="0" i="0">
                <a:effectLst/>
                <a:latin typeface="IBM Plex Sans" panose="020B0503050203000203" pitchFamily="34" charset="0"/>
              </a:rPr>
              <a:t>This pattern can be reasonable in the following scenarios:</a:t>
            </a:r>
          </a:p>
          <a:p>
            <a:pPr algn="l">
              <a:buFont typeface="Arial" panose="020B0604020202020204" pitchFamily="34" charset="0"/>
              <a:buChar char="•"/>
            </a:pPr>
            <a:r>
              <a:rPr lang="en-US" b="0" i="0">
                <a:effectLst/>
                <a:latin typeface="IBM Plex Sans" panose="020B0503050203000203" pitchFamily="34" charset="0"/>
              </a:rPr>
              <a:t>When there are transactional operations that involve multiple components or services.</a:t>
            </a:r>
          </a:p>
          <a:p>
            <a:pPr algn="l">
              <a:buFont typeface="Arial" panose="020B0604020202020204" pitchFamily="34" charset="0"/>
              <a:buChar char="•"/>
            </a:pPr>
            <a:r>
              <a:rPr lang="en-US" b="0" i="0">
                <a:effectLst/>
                <a:latin typeface="IBM Plex Sans" panose="020B0503050203000203" pitchFamily="34" charset="0"/>
              </a:rPr>
              <a:t>When there are frequent and complex transactions, such as in e-commerce applications, financial systems, and other transaction-intensive environments.</a:t>
            </a:r>
          </a:p>
          <a:p>
            <a:pPr algn="l">
              <a:buFont typeface="Arial" panose="020B0604020202020204" pitchFamily="34" charset="0"/>
              <a:buChar char="•"/>
            </a:pPr>
            <a:r>
              <a:rPr lang="en-US" b="0" i="0">
                <a:effectLst/>
                <a:latin typeface="IBM Plex Sans" panose="020B0503050203000203" pitchFamily="34" charset="0"/>
              </a:rPr>
              <a:t>When there are strict consistency requirements, where it is important to ensure that data is always in a consistent state across all components involved in a transaction.</a:t>
            </a:r>
          </a:p>
          <a:p>
            <a:pPr algn="l"/>
            <a:endParaRPr lang="en-US" b="0" i="0">
              <a:effectLst/>
              <a:latin typeface="IBM Plex Sans" panose="020B0503050203000203" pitchFamily="34" charset="0"/>
            </a:endParaRPr>
          </a:p>
        </p:txBody>
      </p:sp>
    </p:spTree>
    <p:extLst>
      <p:ext uri="{BB962C8B-B14F-4D97-AF65-F5344CB8AC3E}">
        <p14:creationId xmlns:p14="http://schemas.microsoft.com/office/powerpoint/2010/main" val="3273630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137920" y="1066800"/>
            <a:ext cx="92456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3100" b="1" i="0">
                <a:effectLst/>
                <a:latin typeface="Montserrat" panose="00000500000000000000" pitchFamily="2" charset="0"/>
              </a:rPr>
              <a:t>Decompose by Transaction pattern</a:t>
            </a:r>
            <a:endParaRPr lang="en-IN" sz="3100"/>
          </a:p>
        </p:txBody>
      </p:sp>
      <p:pic>
        <p:nvPicPr>
          <p:cNvPr id="9" name="Picture 8">
            <a:extLst>
              <a:ext uri="{FF2B5EF4-FFF2-40B4-BE49-F238E27FC236}">
                <a16:creationId xmlns:a16="http://schemas.microsoft.com/office/drawing/2014/main" id="{05AD0944-0DC8-E6F6-2B57-B50A8BDE0135}"/>
              </a:ext>
            </a:extLst>
          </p:cNvPr>
          <p:cNvPicPr>
            <a:picLocks noChangeAspect="1"/>
          </p:cNvPicPr>
          <p:nvPr/>
        </p:nvPicPr>
        <p:blipFill>
          <a:blip r:embed="rId2"/>
          <a:stretch>
            <a:fillRect/>
          </a:stretch>
        </p:blipFill>
        <p:spPr>
          <a:xfrm>
            <a:off x="2947525" y="2053501"/>
            <a:ext cx="5626389" cy="3441877"/>
          </a:xfrm>
          <a:prstGeom prst="rect">
            <a:avLst/>
          </a:prstGeom>
        </p:spPr>
      </p:pic>
    </p:spTree>
    <p:extLst>
      <p:ext uri="{BB962C8B-B14F-4D97-AF65-F5344CB8AC3E}">
        <p14:creationId xmlns:p14="http://schemas.microsoft.com/office/powerpoint/2010/main" val="1254858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137920" y="1066800"/>
            <a:ext cx="92456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3100" b="1" i="0">
                <a:effectLst/>
                <a:latin typeface="Montserrat" panose="00000500000000000000" pitchFamily="2" charset="0"/>
              </a:rPr>
              <a:t>Decomposition by sub-domain pattern</a:t>
            </a:r>
            <a:endParaRPr lang="en-IN" sz="3100"/>
          </a:p>
        </p:txBody>
      </p:sp>
      <p:sp>
        <p:nvSpPr>
          <p:cNvPr id="3" name="Subtitle 2">
            <a:extLst>
              <a:ext uri="{FF2B5EF4-FFF2-40B4-BE49-F238E27FC236}">
                <a16:creationId xmlns:a16="http://schemas.microsoft.com/office/drawing/2014/main" id="{732DB191-42DD-3833-FBF9-A01DB18166FB}"/>
              </a:ext>
            </a:extLst>
          </p:cNvPr>
          <p:cNvSpPr>
            <a:spLocks noGrp="1"/>
          </p:cNvSpPr>
          <p:nvPr>
            <p:ph type="subTitle" idx="1"/>
          </p:nvPr>
        </p:nvSpPr>
        <p:spPr>
          <a:xfrm>
            <a:off x="1524000" y="2032000"/>
            <a:ext cx="9144000" cy="4551680"/>
          </a:xfrm>
        </p:spPr>
        <p:txBody>
          <a:bodyPr>
            <a:normAutofit/>
          </a:bodyPr>
          <a:lstStyle/>
          <a:p>
            <a:pPr algn="l"/>
            <a:r>
              <a:rPr lang="en-US" b="0" i="0">
                <a:effectLst/>
                <a:latin typeface="IBM Plex Sans" panose="020B0503050203000203" pitchFamily="34" charset="0"/>
              </a:rPr>
              <a:t>Microservice decomposition by subdomain is a process of breaking down a monolithic system into smaller, independent microservices based on the corresponding subdomains defined by Domain-Driven Design (DDD). DDD refers to the application's problem space - the business - as the domain, which is comprised of multiple subdomains [8]. The scope of each subdomain's model is called a bounded context, around which microservices are developed. This pattern is suitable for monolithic systems that have clear boundaries between subdomains</a:t>
            </a:r>
          </a:p>
        </p:txBody>
      </p:sp>
    </p:spTree>
    <p:extLst>
      <p:ext uri="{BB962C8B-B14F-4D97-AF65-F5344CB8AC3E}">
        <p14:creationId xmlns:p14="http://schemas.microsoft.com/office/powerpoint/2010/main" val="29319417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8877-3E60-77DF-4976-9EF9CBD893E9}"/>
              </a:ext>
            </a:extLst>
          </p:cNvPr>
          <p:cNvSpPr>
            <a:spLocks noGrp="1"/>
          </p:cNvSpPr>
          <p:nvPr>
            <p:ph type="ctrTitle"/>
          </p:nvPr>
        </p:nvSpPr>
        <p:spPr>
          <a:xfrm>
            <a:off x="1137920" y="1066800"/>
            <a:ext cx="9245600" cy="609600"/>
          </a:xfrm>
        </p:spPr>
        <p:txBody>
          <a:bodyPr>
            <a:normAutofit fontScale="90000"/>
          </a:bodyPr>
          <a:lstStyle/>
          <a:p>
            <a:br>
              <a:rPr lang="en-US" b="1" i="0">
                <a:effectLst/>
                <a:latin typeface="Montserrat" panose="020B0604020202020204" pitchFamily="2" charset="0"/>
              </a:rPr>
            </a:br>
            <a:br>
              <a:rPr lang="en-IN" sz="1200" b="1" i="0">
                <a:effectLst/>
                <a:latin typeface="Montserrat" panose="00000500000000000000" pitchFamily="2" charset="0"/>
              </a:rPr>
            </a:br>
            <a:r>
              <a:rPr lang="en-IN" sz="3100" b="1" i="0">
                <a:effectLst/>
                <a:latin typeface="Montserrat" panose="00000500000000000000" pitchFamily="2" charset="0"/>
              </a:rPr>
              <a:t>Decomposition by sub-domain pattern</a:t>
            </a:r>
            <a:endParaRPr lang="en-IN" sz="3100"/>
          </a:p>
        </p:txBody>
      </p:sp>
      <p:pic>
        <p:nvPicPr>
          <p:cNvPr id="7" name="Picture 6">
            <a:extLst>
              <a:ext uri="{FF2B5EF4-FFF2-40B4-BE49-F238E27FC236}">
                <a16:creationId xmlns:a16="http://schemas.microsoft.com/office/drawing/2014/main" id="{42BA3636-B5C9-1116-FEB7-9623C6A19AA0}"/>
              </a:ext>
            </a:extLst>
          </p:cNvPr>
          <p:cNvPicPr>
            <a:picLocks noChangeAspect="1"/>
          </p:cNvPicPr>
          <p:nvPr/>
        </p:nvPicPr>
        <p:blipFill>
          <a:blip r:embed="rId2"/>
          <a:stretch>
            <a:fillRect/>
          </a:stretch>
        </p:blipFill>
        <p:spPr>
          <a:xfrm>
            <a:off x="2608412" y="2063003"/>
            <a:ext cx="6528135" cy="4337273"/>
          </a:xfrm>
          <a:prstGeom prst="rect">
            <a:avLst/>
          </a:prstGeom>
        </p:spPr>
      </p:pic>
    </p:spTree>
    <p:extLst>
      <p:ext uri="{BB962C8B-B14F-4D97-AF65-F5344CB8AC3E}">
        <p14:creationId xmlns:p14="http://schemas.microsoft.com/office/powerpoint/2010/main" val="2769774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2152</Words>
  <Application>Microsoft Office PowerPoint</Application>
  <PresentationFormat>Widescreen</PresentationFormat>
  <Paragraphs>115</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 Microservice Vs Monolithic</vt:lpstr>
      <vt:lpstr> Microservice Vs Monolithic</vt:lpstr>
      <vt:lpstr> Microservice Vs Monolithic</vt:lpstr>
      <vt:lpstr> Microservice Vs Monolithic</vt:lpstr>
      <vt:lpstr> Microservice Advantage</vt:lpstr>
      <vt:lpstr> Microservice disadvantage</vt:lpstr>
      <vt:lpstr> Microservice disadvantage</vt:lpstr>
      <vt:lpstr>  Types of Microservice</vt:lpstr>
      <vt:lpstr>  Types of projects on Microservice</vt:lpstr>
      <vt:lpstr>  Microservices Architecture</vt:lpstr>
      <vt:lpstr>  Microservices Architecture</vt:lpstr>
      <vt:lpstr>  Microservices Principles</vt:lpstr>
      <vt:lpstr>Why should design pattern</vt:lpstr>
      <vt:lpstr>  Design Pattern in Microservice</vt:lpstr>
      <vt:lpstr>  Microservices Tools</vt:lpstr>
      <vt:lpstr>  Aggregator Design Pattern</vt:lpstr>
      <vt:lpstr>  Aggregator Design Pattern</vt:lpstr>
      <vt:lpstr>  Decompose by business capability pattern</vt:lpstr>
      <vt:lpstr>  Decompose by business capability pattern</vt:lpstr>
      <vt:lpstr>  Decompose by business capability pattern</vt:lpstr>
      <vt:lpstr>  Decompose by business capability pattern</vt:lpstr>
      <vt:lpstr>  Decompose by Transaction pattern</vt:lpstr>
      <vt:lpstr>  Decompose by Transaction pattern</vt:lpstr>
      <vt:lpstr>  Decomposition by sub-domain pattern</vt:lpstr>
      <vt:lpstr>  Decomposition by sub-domain pattern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Angular Directive </dc:title>
  <dc:creator>Amlan Dey</dc:creator>
  <cp:lastModifiedBy>Shaw, Saurav Kumar (Contractor)</cp:lastModifiedBy>
  <cp:revision>9</cp:revision>
  <dcterms:created xsi:type="dcterms:W3CDTF">2023-05-20T08:06:58Z</dcterms:created>
  <dcterms:modified xsi:type="dcterms:W3CDTF">2026-06-02T03:28:40Z</dcterms:modified>
</cp:coreProperties>
</file>