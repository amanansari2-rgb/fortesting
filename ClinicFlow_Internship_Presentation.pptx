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59" r:id="rId4"/>
    <p:sldId id="260" r:id="rId5"/>
    <p:sldId id="262" r:id="rId6"/>
    <p:sldId id="263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0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3526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7132320" y="365760"/>
            <a:ext cx="1645920" cy="1645920"/>
          </a:xfrm>
          <a:prstGeom prst="ellipse">
            <a:avLst/>
          </a:prstGeom>
          <a:solidFill>
            <a:srgbClr val="0077B6">
              <a:alpha val="30000"/>
            </a:srgbClr>
          </a:solidFill>
          <a:ln w="12700">
            <a:solidFill>
              <a:srgbClr val="0077B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498080" y="2743200"/>
            <a:ext cx="1097280" cy="1097280"/>
          </a:xfrm>
          <a:prstGeom prst="ellipse">
            <a:avLst/>
          </a:prstGeom>
          <a:solidFill>
            <a:srgbClr val="00B4D8">
              <a:alpha val="20000"/>
            </a:srgbClr>
          </a:solidFill>
          <a:ln w="12700">
            <a:solidFill>
              <a:srgbClr val="00B4D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400" dirty="0">
                <a:solidFill>
                  <a:srgbClr val="00B4D8"/>
                </a:solidFill>
              </a:rPr>
              <a:t>INDUSTRY INTERNSHIP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6217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</a:rPr>
              <a:t>Presentation</a:t>
            </a:r>
            <a:endParaRPr lang="en-US" sz="5200" dirty="0"/>
          </a:p>
        </p:txBody>
      </p:sp>
      <p:sp>
        <p:nvSpPr>
          <p:cNvPr id="8" name="Shape 6"/>
          <p:cNvSpPr/>
          <p:nvPr/>
        </p:nvSpPr>
        <p:spPr>
          <a:xfrm>
            <a:off x="365760" y="2011680"/>
            <a:ext cx="27432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65760" y="2286000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Name: </a:t>
            </a:r>
            <a:r>
              <a:rPr lang="en-US" sz="1300" b="1" dirty="0">
                <a:solidFill>
                  <a:srgbClr val="FFFFFF"/>
                </a:solidFill>
              </a:rPr>
              <a:t>Aman Ansari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724912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Admission No: </a:t>
            </a:r>
            <a:r>
              <a:rPr lang="en-US" sz="1300" dirty="0">
                <a:solidFill>
                  <a:srgbClr val="FFFFFF"/>
                </a:solidFill>
              </a:rPr>
              <a:t>22SCSE1011471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3163824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Company: </a:t>
            </a:r>
            <a:r>
              <a:rPr lang="en-US" sz="1300" dirty="0">
                <a:solidFill>
                  <a:srgbClr val="FFFFFF"/>
                </a:solidFill>
              </a:rPr>
              <a:t>Cognizant Technology Solutions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602736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Duration: </a:t>
            </a:r>
            <a:r>
              <a:rPr lang="en-US" sz="1300" dirty="0">
                <a:solidFill>
                  <a:srgbClr val="FFFFFF"/>
                </a:solidFill>
              </a:rPr>
              <a:t>3.5 months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4041648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Domain: </a:t>
            </a:r>
            <a:r>
              <a:rPr lang="en-US" sz="1300" dirty="0">
                <a:solidFill>
                  <a:srgbClr val="FFFFFF"/>
                </a:solidFill>
              </a:rPr>
              <a:t>Dot Net Full Stack with React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4480560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Submitted To: </a:t>
            </a:r>
            <a:r>
              <a:rPr lang="en-US" sz="1300" b="1" dirty="0">
                <a:solidFill>
                  <a:srgbClr val="FFFFFF"/>
                </a:solidFill>
              </a:rPr>
              <a:t>Sunil Kumar Assistant Professor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kern="0" spc="200" dirty="0">
                <a:solidFill>
                  <a:srgbClr val="FFFFFF"/>
                </a:solidFill>
              </a:rPr>
              <a:t>TECHNICAL SKILLS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4114800" cy="1554480"/>
          </a:xfrm>
          <a:prstGeom prst="rect">
            <a:avLst/>
          </a:prstGeom>
          <a:solidFill>
            <a:srgbClr val="E8F4FD"/>
          </a:solidFill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91440" cy="1554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48640" y="13075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Frontend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React.js  ·  JavaScript  ·  HTML  ·  CSS  ·  Bootstrap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143000"/>
            <a:ext cx="4114800" cy="1554480"/>
          </a:xfrm>
          <a:prstGeom prst="rect">
            <a:avLst/>
          </a:prstGeom>
          <a:solidFill>
            <a:srgbClr val="EDF7F0"/>
          </a:solidFill>
          <a:ln w="254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143000"/>
            <a:ext cx="91440" cy="155448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937760" y="13075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Backend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ASP.NET Core  ·  Web API  ·  C#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971800"/>
            <a:ext cx="4114800" cy="1554480"/>
          </a:xfrm>
          <a:prstGeom prst="rect">
            <a:avLst/>
          </a:prstGeom>
          <a:solidFill>
            <a:srgbClr val="FFF8E1"/>
          </a:solidFill>
          <a:ln w="254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65760" y="2971800"/>
            <a:ext cx="91440" cy="155448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48640" y="31363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Database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52044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SQL Server  ·  Entity Framework Core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971800"/>
            <a:ext cx="4114800" cy="1554480"/>
          </a:xfrm>
          <a:prstGeom prst="rect">
            <a:avLst/>
          </a:prstGeom>
          <a:solidFill>
            <a:srgbClr val="FBE9E7"/>
          </a:solidFill>
          <a:ln w="25400">
            <a:solidFill>
              <a:srgbClr val="FF704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4754880" y="2971800"/>
            <a:ext cx="91440" cy="1554480"/>
          </a:xfrm>
          <a:prstGeom prst="rect">
            <a:avLst/>
          </a:prstGeom>
          <a:solidFill>
            <a:srgbClr val="FF7043"/>
          </a:solidFill>
          <a:ln w="12700">
            <a:solidFill>
              <a:srgbClr val="FF704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937760" y="31363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Tools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352044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Git  ·  GitHub  ·  Postman  ·  Visual Studio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kern="0" spc="200" dirty="0">
                <a:solidFill>
                  <a:srgbClr val="FFFFFF"/>
                </a:solidFill>
              </a:rPr>
              <a:t>PROJECT — ClinicFlow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0077B6"/>
                </a:solidFill>
              </a:rPr>
              <a:t>Outpatient Scheduling &amp; Resource Optimization System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502920" y="1591056"/>
            <a:ext cx="182880" cy="182880"/>
          </a:xfrm>
          <a:prstGeom prst="ellipse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22960" y="148132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</a:rPr>
              <a:t>Deterministic outpatient management platform for scheduling, resource allocation &amp; billing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048256"/>
            <a:ext cx="8412480" cy="502920"/>
          </a:xfrm>
          <a:prstGeom prst="rect">
            <a:avLst/>
          </a:prstGeom>
          <a:solidFill>
            <a:srgbClr val="E8F4FD"/>
          </a:solidFill>
          <a:ln w="12700">
            <a:solidFill>
              <a:srgbClr val="DCE8F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502920" y="2176272"/>
            <a:ext cx="182880" cy="182880"/>
          </a:xfrm>
          <a:prstGeom prst="ellipse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822960" y="206654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</a:rPr>
              <a:t>Centralizes patient intake, appointment booking, clinician calendars &amp; encounter documentation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633472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502920" y="2761488"/>
            <a:ext cx="182880" cy="182880"/>
          </a:xfrm>
          <a:prstGeom prst="ellipse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2296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</a:rPr>
              <a:t>Append-only audit logs ensuring HIPAA/GDPR compliance throughout the system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218688"/>
            <a:ext cx="8412480" cy="502920"/>
          </a:xfrm>
          <a:prstGeom prst="rect">
            <a:avLst/>
          </a:prstGeom>
          <a:solidFill>
            <a:srgbClr val="E8F4FD"/>
          </a:solidFill>
          <a:ln w="12700">
            <a:solidFill>
              <a:srgbClr val="DCE8F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02920" y="3346704"/>
            <a:ext cx="182880" cy="182880"/>
          </a:xfrm>
          <a:prstGeom prst="ellipse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822960" y="3236976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</a:rPr>
              <a:t>Role-based portals for Patients, Clinicians, Schedulers, Billing Officers &amp; Admins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803904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502920" y="3931920"/>
            <a:ext cx="182880" cy="182880"/>
          </a:xfrm>
          <a:prstGeom prst="ellipse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822960" y="38221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</a:rPr>
              <a:t>Deterministic scheduling rules (availability, capacity, priority) — no AI optimization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389120"/>
            <a:ext cx="8412480" cy="502920"/>
          </a:xfrm>
          <a:prstGeom prst="rect">
            <a:avLst/>
          </a:prstGeom>
          <a:solidFill>
            <a:srgbClr val="E8F4FD"/>
          </a:solidFill>
          <a:ln w="12700">
            <a:solidFill>
              <a:srgbClr val="DCE8F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502920" y="4517136"/>
            <a:ext cx="182880" cy="182880"/>
          </a:xfrm>
          <a:prstGeom prst="ellipse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822960" y="440740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</a:rPr>
              <a:t>Modular architecture: 8 independent feature modules with REST API integration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kern="0" spc="200" dirty="0">
                <a:solidFill>
                  <a:srgbClr val="FFFFFF"/>
                </a:solidFill>
              </a:rPr>
              <a:t>MY CONTRIBUTION TO THE PROJECT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0077B6"/>
                </a:solidFill>
              </a:rPr>
              <a:t>Identity &amp; Access Management Module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1371600"/>
            <a:ext cx="2834640" cy="3474720"/>
          </a:xfrm>
          <a:prstGeom prst="rect">
            <a:avLst/>
          </a:prstGeom>
          <a:solidFill>
            <a:srgbClr val="E8F4FD"/>
          </a:solidFill>
          <a:ln w="25400">
            <a:solidFill>
              <a:srgbClr val="0077B6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1371600"/>
            <a:ext cx="2834640" cy="4572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20040" y="1389888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Authentication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920240"/>
            <a:ext cx="26060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1B2A"/>
                </a:solidFill>
              </a:rPr>
              <a:t>Implemented secure JWT (JSON Web Token) login &amp; logout flow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1B2A"/>
                </a:solidFill>
              </a:rPr>
              <a:t>Built /auth/login, /auth/refresh, /auth/logout REST endpoints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1B2A"/>
                </a:solidFill>
              </a:rPr>
              <a:t>Access token (15 min) stored in memory; refresh token (7 days) in httpOnly cookie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0D1B2A"/>
                </a:solidFill>
              </a:rPr>
              <a:t>Configured Axios interceptors for auto token refresh on 401 responses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72968" y="1371600"/>
            <a:ext cx="2834640" cy="3474720"/>
          </a:xfrm>
          <a:prstGeom prst="rect">
            <a:avLst/>
          </a:prstGeom>
          <a:solidFill>
            <a:srgbClr val="EDF7F0"/>
          </a:solidFill>
          <a:ln w="25400">
            <a:solidFill>
              <a:srgbClr val="2E7D32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172968" y="1371600"/>
            <a:ext cx="283464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64408" y="1389888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MFA (Multi-Factor Auth)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10128" y="1920240"/>
            <a:ext cx="26060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1B2A"/>
                </a:solidFill>
              </a:rPr>
              <a:t>Integrated TOTP-based MFA using ASP.NET Core Identity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1B2A"/>
                </a:solidFill>
              </a:rPr>
              <a:t>Enforced MFA for Admin and Auditor roles as per HIPAA requirements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1B2A"/>
                </a:solidFill>
              </a:rPr>
              <a:t>Designed MFA enrollment and verification flow in the React frontend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0D1B2A"/>
                </a:solidFill>
              </a:rPr>
              <a:t>Ensured secure QR code generation and TOTP seed storage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17336" y="1371600"/>
            <a:ext cx="2834640" cy="3474720"/>
          </a:xfrm>
          <a:prstGeom prst="rect">
            <a:avLst/>
          </a:prstGeom>
          <a:solidFill>
            <a:srgbClr val="FFF3E0"/>
          </a:solidFill>
          <a:ln w="25400">
            <a:solidFill>
              <a:srgbClr val="E6510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6117336" y="1371600"/>
            <a:ext cx="283464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208776" y="1389888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RBAC (Role-Based Access Control)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54496" y="1920240"/>
            <a:ext cx="26060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1B2A"/>
                </a:solidFill>
              </a:rPr>
              <a:t>Defined 6 roles: Patient, Clinician, Scheduler, Billing, Admin, Auditor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1B2A"/>
                </a:solidFill>
              </a:rPr>
              <a:t>Decorated all API endpoints with [Authorize(Roles=...)] attributes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1B2A"/>
                </a:solidFill>
              </a:rPr>
              <a:t>Built ProtectedRoute HOC in React for role-based frontend navigation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0D1B2A"/>
                </a:solidFill>
              </a:rPr>
              <a:t>Implemented usePermission hook for granular UI component access control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kern="0" spc="200" dirty="0">
                <a:solidFill>
                  <a:srgbClr val="FFFFFF"/>
                </a:solidFill>
              </a:rPr>
              <a:t>LEARNING &amp; FUTURE SCOPE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023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23360" cy="4572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3749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Learnings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664208"/>
            <a:ext cx="128016" cy="128016"/>
          </a:xfrm>
          <a:prstGeom prst="ellipse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13232" y="162763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Hands-on full stack .NET + React development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093976"/>
            <a:ext cx="128016" cy="128016"/>
          </a:xfrm>
          <a:prstGeom prst="ellipse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13232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JWT security: token lifecycle, refresh flow &amp; secure storage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523744"/>
            <a:ext cx="128016" cy="128016"/>
          </a:xfrm>
          <a:prstGeom prst="ellipse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713232" y="248716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MFA implementation using ASP.NET Core Identity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953512"/>
            <a:ext cx="128016" cy="128016"/>
          </a:xfrm>
          <a:prstGeom prst="ellipse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13232" y="2916936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RBAC design patterns and role-based API authorization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383280"/>
            <a:ext cx="128016" cy="128016"/>
          </a:xfrm>
          <a:prstGeom prst="ellipse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13232" y="3346704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Clean Architecture: separation of concerns across layers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813048"/>
            <a:ext cx="128016" cy="128016"/>
          </a:xfrm>
          <a:prstGeom prst="ellipse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13232" y="377647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EF Core code-first migrations &amp; SQL Server optimization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4242816"/>
            <a:ext cx="128016" cy="128016"/>
          </a:xfrm>
          <a:prstGeom prst="ellipse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13232" y="42062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API design with Swagger/OpenAPI documentation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1051560"/>
            <a:ext cx="4023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4754880" y="1051560"/>
            <a:ext cx="402336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892040" y="1078992"/>
            <a:ext cx="3749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Future Scope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92040" y="1664208"/>
            <a:ext cx="128016" cy="128016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5102352" y="1627632"/>
            <a:ext cx="3566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Microservices: split Identity into standalone auth service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92040" y="2157984"/>
            <a:ext cx="128016" cy="128016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102352" y="2121408"/>
            <a:ext cx="3566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Deploy on Azure with App Service + Azure SQL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92040" y="2651760"/>
            <a:ext cx="128016" cy="128016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5102352" y="2615184"/>
            <a:ext cx="3566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OAuth 2.0 / OpenID Connect for external SSO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3145536"/>
            <a:ext cx="128016" cy="128016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102352" y="3108960"/>
            <a:ext cx="3566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HL7/FHIR integration for EHR interoperability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92040" y="3639312"/>
            <a:ext cx="128016" cy="128016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5102352" y="3602736"/>
            <a:ext cx="3566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Real-time notifications via SignalR WebSockets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892040" y="4133088"/>
            <a:ext cx="128016" cy="128016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5102352" y="4096512"/>
            <a:ext cx="3566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SMS/email reminders via Twilio &amp; SMTP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5943600" y="274320"/>
            <a:ext cx="2286000" cy="2286000"/>
          </a:xfrm>
          <a:prstGeom prst="ellipse">
            <a:avLst/>
          </a:prstGeom>
          <a:solidFill>
            <a:srgbClr val="0077B6">
              <a:alpha val="20000"/>
            </a:srgbClr>
          </a:solidFill>
          <a:ln w="12700">
            <a:solidFill>
              <a:srgbClr val="0077B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6858000" y="3200400"/>
            <a:ext cx="1371600" cy="1371600"/>
          </a:xfrm>
          <a:prstGeom prst="ellipse">
            <a:avLst/>
          </a:prstGeom>
          <a:solidFill>
            <a:srgbClr val="00B4D8">
              <a:alpha val="15000"/>
            </a:srgbClr>
          </a:solidFill>
          <a:ln w="12700">
            <a:solidFill>
              <a:srgbClr val="00B4D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</a:rPr>
              <a:t>Thank You!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2743200" y="2651760"/>
            <a:ext cx="36576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28016" y="47320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E0EF"/>
                </a:solidFill>
              </a:rPr>
              <a:t>Cognizant Technology Solutions Corporation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443</Words>
  <Application>Microsoft Office PowerPoint</Application>
  <PresentationFormat>On-screen Show (16:9)</PresentationFormat>
  <Paragraphs>66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Industry Internship Presentation - ClinicFlow</dc:title>
  <dc:subject>PptxGenJS Presentation</dc:subject>
  <dc:creator>PptxGenJS</dc:creator>
  <cp:lastModifiedBy>Ansari, Aman (Contractor)</cp:lastModifiedBy>
  <cp:revision>3</cp:revision>
  <dcterms:created xsi:type="dcterms:W3CDTF">2026-05-05T17:20:18Z</dcterms:created>
  <dcterms:modified xsi:type="dcterms:W3CDTF">2026-05-05T18:19:39Z</dcterms:modified>
</cp:coreProperties>
</file>